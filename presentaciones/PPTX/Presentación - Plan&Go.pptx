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9" r:id="rId3"/>
    <p:sldId id="258" r:id="rId4"/>
    <p:sldId id="270" r:id="rId5"/>
    <p:sldId id="274" r:id="rId6"/>
    <p:sldId id="271" r:id="rId7"/>
    <p:sldId id="276" r:id="rId8"/>
    <p:sldId id="275" r:id="rId9"/>
    <p:sldId id="277" r:id="rId10"/>
    <p:sldId id="280" r:id="rId11"/>
    <p:sldId id="278" r:id="rId12"/>
    <p:sldId id="279" r:id="rId13"/>
    <p:sldId id="282" r:id="rId14"/>
    <p:sldId id="281" r:id="rId15"/>
    <p:sldId id="283" r:id="rId16"/>
    <p:sldId id="284" r:id="rId17"/>
    <p:sldId id="285" r:id="rId18"/>
    <p:sldId id="272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iQy/ETSHPzhygKOGqvETg5tYn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7AAA86E-44B8-D27D-DD60-6FE3B2BB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FC68787A-37BC-3B3B-1208-DA270CEC2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85E83AB3-341D-2600-FBA1-63B17AF09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1412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4F00F963-2BB5-3263-ADD0-5E9DE51E4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5399CE47-97D1-97E7-FC8C-9D0058766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D352087D-45A1-7989-8803-05C557E44C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3227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A251919-CFBE-7013-9AAB-A8091302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4F66ABC1-7F74-6023-4A05-09E63E8CBB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41BC6960-6099-BC55-B6A9-6056567DD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44605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162AEF5-D6E6-B9AE-7C55-9E94E8B25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0584B06A-18DA-86C3-D86B-769D6F6E93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BF06C981-53B0-E4AC-C450-B196B5BEE0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6914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B58C521B-2F2C-E0CF-049D-3EE6CF98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C1557721-814B-B41A-8C0E-0DB4E770D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9FB488D1-720F-9257-F7E7-1A10CA797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1012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1C1804F-9DCC-62DE-A378-6929DE155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F4760755-2BDB-CAED-C113-C4AA2637A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12A217EA-D5A5-0349-1019-808E7FEAC1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5293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8F67F56-C6C9-4DEF-E667-F4E75783E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3281ABD8-F487-DC50-14FB-722708316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2345028B-B170-B63C-B1BF-DC63414090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4345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21D3C30-13CB-199B-4764-6769BA33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974A2483-6620-DEC6-F61C-099EA2806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95FEDA07-185B-7854-1BDD-24E158FF4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644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11F1816-4253-17DE-C3D3-213E0BFA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2DAEB5B1-10FA-2D34-399B-15BBCBCA2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C9475470-23BD-D800-D00E-14A0E4BDC8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6789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CDE74B84-B975-CF16-D727-C19EBFFD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D03C97DE-2B88-E649-4CFE-0500885D5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F5FBC198-961C-5797-CBEB-C51489265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2630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CDBE787-D350-8A5C-FF15-87CEA729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FD42F4C5-A08C-52F2-C27D-71B226B92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5D03510B-0A61-345C-946A-A945EE28F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7391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7E5988D0-7FEA-41E6-3A12-AC8466A6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44E87A2E-A661-1CE0-BB4B-45BEDC77E3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22ED118B-2CFD-8CBA-F588-D5EA9A6BA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4277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B600FF2B-190C-6006-D734-CE4D5A66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5A43B31C-0812-7A58-FB1C-4631B7C6D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B232CEB3-2AFD-09A8-5AD1-B31470D90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6848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CFF53F8-3A44-881F-CDD4-1F3E52935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126BB077-E8C2-3B63-B4F2-4FE0154FA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BBF030F3-BAB4-FAAC-421D-97CEEEB82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09816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3237277A-172E-F71F-371D-1745CF997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3F8DD2F5-066A-BDCF-BFCD-817D6717CB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50034D66-7CF1-2FBE-8743-F4715413D6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0680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799" y="0"/>
            <a:ext cx="7772400" cy="859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s-AR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Plan &amp; </a:t>
            </a:r>
            <a:r>
              <a:rPr lang="es-AR" b="1" u="sng" dirty="0" err="1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Go</a:t>
            </a:r>
            <a:endParaRPr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685801" y="859197"/>
            <a:ext cx="7772399" cy="2462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2"/>
              <a:buNone/>
            </a:pPr>
            <a:r>
              <a:rPr lang="es-AR" sz="2800" b="1" i="1" dirty="0">
                <a:solidFill>
                  <a:schemeClr val="dk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Ascencio Felipe Santino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2"/>
              <a:buNone/>
            </a:pPr>
            <a:r>
              <a:rPr lang="es-AR" sz="2800" b="1" i="1" dirty="0">
                <a:solidFill>
                  <a:schemeClr val="dk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Guerrero Martín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2"/>
              <a:buNone/>
            </a:pPr>
            <a:r>
              <a:rPr lang="es-AR" sz="2800" b="1" i="1" dirty="0">
                <a:solidFill>
                  <a:schemeClr val="dk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Landi Agustina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2"/>
              <a:buNone/>
            </a:pPr>
            <a:r>
              <a:rPr lang="es-AR" sz="2800" b="1" i="1" dirty="0" err="1">
                <a:solidFill>
                  <a:schemeClr val="dk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Slepowron</a:t>
            </a:r>
            <a:r>
              <a:rPr lang="es-AR" sz="2800" b="1" i="1" dirty="0">
                <a:solidFill>
                  <a:schemeClr val="dk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</a:t>
            </a:r>
            <a:r>
              <a:rPr lang="es-AR" sz="2800" b="1" i="1" dirty="0" err="1">
                <a:solidFill>
                  <a:schemeClr val="dk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Majowiecki</a:t>
            </a:r>
            <a:r>
              <a:rPr lang="es-AR" sz="2800" b="1" i="1" dirty="0">
                <a:solidFill>
                  <a:schemeClr val="dk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María Mercedes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2"/>
              <a:buNone/>
            </a:pPr>
            <a:r>
              <a:rPr lang="es-AR" sz="2800" b="1" i="1" dirty="0">
                <a:solidFill>
                  <a:schemeClr val="dk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Suárez Pino Imanol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2"/>
              <a:buNone/>
            </a:pPr>
            <a:r>
              <a:rPr lang="es-AR" sz="2800" b="1" i="1" dirty="0" err="1">
                <a:solidFill>
                  <a:schemeClr val="dk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Valdatta</a:t>
            </a:r>
            <a:r>
              <a:rPr lang="es-AR" sz="2800" b="1" i="1" dirty="0">
                <a:solidFill>
                  <a:schemeClr val="dk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Catarina</a:t>
            </a:r>
            <a:endParaRPr sz="2800" b="1" i="1" dirty="0">
              <a:solidFill>
                <a:schemeClr val="dk1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482F8791-4E88-55D8-2CE4-D9464B3AC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955" y="3321562"/>
            <a:ext cx="3204088" cy="320408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695C377-C5B0-0349-7FAD-A79456DDD716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15362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Agenda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E6F86E3-A9AF-0A11-F4AA-D1E642ACEE13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Google Shape;97;p3">
            <a:extLst>
              <a:ext uri="{FF2B5EF4-FFF2-40B4-BE49-F238E27FC236}">
                <a16:creationId xmlns:a16="http://schemas.microsoft.com/office/drawing/2014/main" id="{0C487D51-92F7-8950-3AA7-79E3A1A41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55" y="1414616"/>
            <a:ext cx="8927690" cy="470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Introducción al producto.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Análisis técnico.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Análisis del desarrollo.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Puntos de interés.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Conclusión.</a:t>
            </a:r>
            <a:endParaRPr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511D0681-F63D-9692-DA1D-237F18548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457200" y="167150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 err="1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Product</a:t>
            </a: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</a:t>
            </a:r>
            <a:r>
              <a:rPr lang="es-AR" sz="4800" b="1" u="sng" dirty="0" err="1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Vision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108155" y="1179872"/>
            <a:ext cx="8927690" cy="470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ct val="100000"/>
              <a:buNone/>
            </a:pPr>
            <a:r>
              <a:rPr lang="es-AR" sz="2600" b="1" dirty="0"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s-AR" sz="2600" dirty="0">
                <a:latin typeface="Arial"/>
                <a:ea typeface="Arial"/>
                <a:cs typeface="Arial"/>
                <a:sym typeface="Arial"/>
              </a:rPr>
              <a:t>viajeros y grupos de viaje.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ct val="100000"/>
              <a:buNone/>
            </a:pPr>
            <a:r>
              <a:rPr lang="es-AR" sz="2600" b="1" dirty="0">
                <a:latin typeface="Arial"/>
                <a:ea typeface="Arial"/>
                <a:cs typeface="Arial"/>
                <a:sym typeface="Arial"/>
              </a:rPr>
              <a:t>Quienes</a:t>
            </a:r>
            <a:r>
              <a:rPr lang="es-AR" sz="2600" dirty="0">
                <a:latin typeface="Arial"/>
                <a:ea typeface="Arial"/>
                <a:cs typeface="Arial"/>
                <a:sym typeface="Arial"/>
              </a:rPr>
              <a:t> buscan planificar y disfrutar sus viajes sin complicaciones, compartiendo gastos y experiencias.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ct val="100000"/>
              <a:buNone/>
            </a:pPr>
            <a:r>
              <a:rPr lang="es-AR" sz="2600" b="1" dirty="0"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s-AR" sz="2600" dirty="0"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lang="es-AR" sz="2600" dirty="0" err="1">
                <a:latin typeface="Arial"/>
                <a:ea typeface="Arial"/>
                <a:cs typeface="Arial"/>
                <a:sym typeface="Arial"/>
              </a:rPr>
              <a:t>Plan&amp;Go</a:t>
            </a:r>
            <a:r>
              <a:rPr lang="es-AR" sz="2600" dirty="0">
                <a:latin typeface="Arial"/>
                <a:ea typeface="Arial"/>
                <a:cs typeface="Arial"/>
                <a:sym typeface="Arial"/>
              </a:rPr>
              <a:t>’.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ct val="100000"/>
              <a:buNone/>
            </a:pPr>
            <a:r>
              <a:rPr lang="es-AR" sz="2600" b="1" dirty="0">
                <a:latin typeface="Arial"/>
                <a:ea typeface="Arial"/>
                <a:cs typeface="Arial"/>
                <a:sym typeface="Arial"/>
              </a:rPr>
              <a:t>Es una </a:t>
            </a:r>
            <a:r>
              <a:rPr lang="es-AR" sz="2600" dirty="0">
                <a:latin typeface="Arial"/>
                <a:ea typeface="Arial"/>
                <a:cs typeface="Arial"/>
                <a:sym typeface="Arial"/>
              </a:rPr>
              <a:t>plataforma digital web de gestión de viajes.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ct val="100000"/>
              <a:buNone/>
            </a:pPr>
            <a:r>
              <a:rPr lang="es-AR" sz="2600" b="1" dirty="0">
                <a:latin typeface="Arial"/>
                <a:ea typeface="Arial"/>
                <a:cs typeface="Arial"/>
                <a:sym typeface="Arial"/>
              </a:rPr>
              <a:t>Que </a:t>
            </a:r>
            <a:r>
              <a:rPr lang="es-AR" sz="2600" dirty="0">
                <a:latin typeface="Arial"/>
                <a:ea typeface="Arial"/>
                <a:cs typeface="Arial"/>
                <a:sym typeface="Arial"/>
              </a:rPr>
              <a:t>permite controlar presupuestos grupales, acumular puntos de recompensa por reseñas, compartir itinerarios e interactuar con otros viajeros.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ct val="100000"/>
              <a:buNone/>
            </a:pPr>
            <a:r>
              <a:rPr lang="es-AR" sz="2600" b="1" dirty="0" err="1">
                <a:latin typeface="Arial"/>
                <a:ea typeface="Arial"/>
                <a:cs typeface="Arial"/>
                <a:sym typeface="Arial"/>
              </a:rPr>
              <a:t>Diferenta</a:t>
            </a:r>
            <a:r>
              <a:rPr lang="es-AR" sz="2600" b="1" dirty="0"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s-AR" sz="2600" dirty="0">
                <a:latin typeface="Arial"/>
                <a:ea typeface="Arial"/>
                <a:cs typeface="Arial"/>
                <a:sym typeface="Arial"/>
              </a:rPr>
              <a:t>‘TripAdvisor’ que se centra en búsqueda, comparación y reserva de servicios turísticos con reseñas y puntuaciones.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ct val="100000"/>
              <a:buNone/>
            </a:pPr>
            <a:r>
              <a:rPr lang="es-AR" sz="2600" b="1" dirty="0">
                <a:latin typeface="Arial"/>
                <a:ea typeface="Arial"/>
                <a:cs typeface="Arial"/>
                <a:sym typeface="Arial"/>
              </a:rPr>
              <a:t>Nuestro producto</a:t>
            </a:r>
            <a:r>
              <a:rPr lang="es-AR" sz="2600" dirty="0">
                <a:latin typeface="Arial"/>
                <a:ea typeface="Arial"/>
                <a:cs typeface="Arial"/>
                <a:sym typeface="Arial"/>
              </a:rPr>
              <a:t> amplía el alcance integrando gestión financiera básica, beneficios y comunidad viajera en un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ct val="100000"/>
              <a:buNone/>
            </a:pPr>
            <a:r>
              <a:rPr lang="es-AR" sz="2600" dirty="0">
                <a:latin typeface="Arial"/>
                <a:ea typeface="Arial"/>
                <a:cs typeface="Arial"/>
                <a:sym typeface="Arial"/>
              </a:rPr>
              <a:t>mismo espacio, logrando una experiencia mas ágil, personalizada y con mayor control para el usuario.</a:t>
            </a:r>
            <a:endParaRPr sz="26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2EDE97-E5C5-49E6-A113-0E7C60A7E6E3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B1658455-9273-2DFF-CEF0-80BACC0EA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D3B9A152-6B2A-7040-2111-D8C2CD6C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8D8A5389-1046-75EB-B898-DD5E87BAB3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06655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¿Quién usa nuestro producto?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97" name="Google Shape;97;p3">
            <a:extLst>
              <a:ext uri="{FF2B5EF4-FFF2-40B4-BE49-F238E27FC236}">
                <a16:creationId xmlns:a16="http://schemas.microsoft.com/office/drawing/2014/main" id="{0F561B21-38FF-BA03-35E0-EEA46EE2E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55" y="1458883"/>
            <a:ext cx="8927690" cy="509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Martina – Viajera joven (Disfruta los viajes solos o en grupo).</a:t>
            </a:r>
          </a:p>
          <a:p>
            <a:pPr marL="0" indent="0">
              <a:spcBef>
                <a:spcPts val="0"/>
              </a:spcBef>
              <a:buClr>
                <a:srgbClr val="323232"/>
              </a:buClr>
              <a:buSzPct val="100000"/>
              <a:buNone/>
            </a:pPr>
            <a:endParaRPr lang="es-AR"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Carlos – El viajero corporativo (Realiza sistemáticamente viajes de negocios).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Ana – La Madre (Viaja con toda su familia).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Valentina – La nómada digital (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Influencer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que busca destinos atractivos e interacciones digitales).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José – El administrador (Regula el contenido de la plataforma).</a:t>
            </a:r>
            <a:endParaRPr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39A5DB-EF9D-76C1-345C-FE2A96123E6C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53666FEC-4D4D-1FDB-D221-F9CD44A64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36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DE7575A1-4FC1-AFD3-7A73-C83F19BE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4D32E946-D1ED-2DD3-F561-C9066B4573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362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Agenda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EDAE90-436E-22E7-677A-960E347E8B49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Google Shape;97;p3">
            <a:extLst>
              <a:ext uri="{FF2B5EF4-FFF2-40B4-BE49-F238E27FC236}">
                <a16:creationId xmlns:a16="http://schemas.microsoft.com/office/drawing/2014/main" id="{2ECBC315-0381-9F2B-F282-E5DB8015E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55" y="1414616"/>
            <a:ext cx="8927690" cy="470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Introducción al producto.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tx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Análisis técnico.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Análisis del desarrollo.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Puntos de interés.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Conclusión.</a:t>
            </a:r>
            <a:endParaRPr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0BCF93F4-FF9C-E584-C840-40FB74EB9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8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9A8625CB-63FE-EDE0-23F8-11B39F2D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364A719D-4A8D-E9D7-1866-13ECDC8D6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Arquitectura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70D79BC-4BEE-428A-E568-D21D4E8AF314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9D4D3A-5F0F-06F2-7D0D-A4FBAF7FE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14" y="1012722"/>
            <a:ext cx="5775371" cy="573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6953BF4-509D-0047-CCD9-E6DA30B44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FA39390A-6B43-E929-5830-25AF90BD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867BEC16-212B-E8BC-D25D-7A85DB95E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06655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Funcionalidades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97" name="Google Shape;97;p3">
            <a:extLst>
              <a:ext uri="{FF2B5EF4-FFF2-40B4-BE49-F238E27FC236}">
                <a16:creationId xmlns:a16="http://schemas.microsoft.com/office/drawing/2014/main" id="{339DBF69-B308-33FD-F5C3-447C0007A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55" y="1339432"/>
            <a:ext cx="8927690" cy="5305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  <a:buClr>
                <a:srgbClr val="323232"/>
              </a:buClr>
              <a:buSzPct val="100000"/>
              <a:buNone/>
            </a:pPr>
            <a:r>
              <a:rPr lang="es-AR" sz="2600" b="1" u="sng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Usuarios (Standard y Premium)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Sesión.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Edición de perfil.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Gestión de publicaciones.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Gestión de itinerarios.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Sistema de reseñas.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Integración con herramientas externas (Correo y Excel).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Control de presupuestos (Con división de gastos).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Visualización de perfiles.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Sistema de beneficios.</a:t>
            </a:r>
          </a:p>
          <a:p>
            <a:pPr marL="0" indent="0">
              <a:spcBef>
                <a:spcPts val="0"/>
              </a:spcBef>
              <a:buClr>
                <a:srgbClr val="323232"/>
              </a:buClr>
              <a:buSzPct val="100000"/>
              <a:buNone/>
            </a:pPr>
            <a:endParaRPr lang="es-AR"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marL="0" indent="0">
              <a:spcBef>
                <a:spcPts val="0"/>
              </a:spcBef>
              <a:buClr>
                <a:srgbClr val="323232"/>
              </a:buClr>
              <a:buSzPct val="100000"/>
              <a:buNone/>
            </a:pPr>
            <a:r>
              <a:rPr lang="es-AR" sz="2600" b="1" u="sng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Administradores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Administración de publicaciones.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Administración de reseñas.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2AF357-2038-360A-269B-FAE573EAB0BE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902C1D6C-E51F-818B-B531-984A6B484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0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5D62A7B0-C355-6237-688C-2D68D389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3EE00849-CCC2-AD06-C4A9-398D85E30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362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Agenda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F537A82-99E0-68D0-D195-B385BDD530C6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Google Shape;97;p3">
            <a:extLst>
              <a:ext uri="{FF2B5EF4-FFF2-40B4-BE49-F238E27FC236}">
                <a16:creationId xmlns:a16="http://schemas.microsoft.com/office/drawing/2014/main" id="{90AF69A0-F3B7-953D-338E-E2AD73A1C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55" y="1414616"/>
            <a:ext cx="8927690" cy="470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Introducción al producto.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Análisis técnico.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tx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Análisis del desarrollo.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Puntos de interés.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Conclusión.</a:t>
            </a:r>
            <a:endParaRPr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04A4A900-32F7-5D6E-0B9C-00FEDF037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64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4F5170DF-5DA5-0980-11AF-6168165EB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47CD5C35-F37B-BB66-10A6-BFE18DB2A0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02834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32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¿Cómo distribuimos la historias de usuario?</a:t>
            </a:r>
            <a:endParaRPr sz="2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C45453-8DFA-AEBC-4EB3-25067A0CA3CD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6CAB9E5D-A43C-1CAE-5672-02E223A3F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  <p:sp>
        <p:nvSpPr>
          <p:cNvPr id="4" name="Google Shape;97;p3">
            <a:extLst>
              <a:ext uri="{FF2B5EF4-FFF2-40B4-BE49-F238E27FC236}">
                <a16:creationId xmlns:a16="http://schemas.microsoft.com/office/drawing/2014/main" id="{6160518B-EA2C-979C-5862-9DC4526B3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55" y="1215556"/>
            <a:ext cx="8927690" cy="509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Sprint 1: 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Desarrollo de la arquitectura diseñada, 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features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de ‘Sesión’ y ‘Edición de Perfil’.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Sprint 2: 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Features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de ‘Gestión de publicaciones’ y ‘Administración de publicaciones’.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Sprint 3: 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Features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de ‘Gestión de itinerarios’ y mejoras en toda la web (Diseño UX/UI).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Sprint 4: 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Features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de ‘Sistema de reseñas’, ‘Administración de reseñas’, ‘Integración con herramientas externas’ y ‘Control de presupuestos’.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Sprint 5: 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Features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de ‘Visualización de perfiles’.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Sprint 6: 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Features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de ‘Sistema de beneficios’.</a:t>
            </a:r>
            <a:endParaRPr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0135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2ABFC9A9-EBB0-5799-68D4-4AC60B178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9917E27D-A783-B327-11DB-D65860DB3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5443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Rendimiento en el desarrollo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A7E389F-A1A5-C513-D4E9-18FAA30222D2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B3A80BD9-AEFF-7757-773C-D0C967C65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54" y="1226909"/>
            <a:ext cx="7395292" cy="451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60E72255-1B47-99DB-D3E3-D5EDF9AB3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0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ED243B67-D53C-3C75-501C-8DBFEBC3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104FA008-84F6-AE91-FC14-4C29E709D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5443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Rendimiento en el desarrollo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0E26B59-D7C6-A662-1C33-722F2A371FD3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1FD8F6B-6E34-6886-0060-AC8F74C3E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56" y="1214769"/>
            <a:ext cx="7317345" cy="452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A6FFBBD2-B167-BACE-6E11-ACB9BCF8A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29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40F16622-EE13-41F5-DFD3-5C1DDC8CC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0D9A4585-9318-E7E7-7555-E8D88AEB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198" y="158793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Rendimiento en el desarrollo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5F09917-EBF4-F964-F1B5-1BFF1A047C18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50549F8-6D75-E5F9-E9ED-18243F9D5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85" y="1171515"/>
            <a:ext cx="7536427" cy="469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7FA7E4DF-6064-CCD1-4F80-1C328D825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32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7E3AC666-6B32-F3B0-9057-E291D5DD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362A3AFF-67E7-E274-3C7D-7D3CD0FC7B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362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Agenda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5E21568-1C24-F414-D17C-0194BD6FC83A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Google Shape;97;p3">
            <a:extLst>
              <a:ext uri="{FF2B5EF4-FFF2-40B4-BE49-F238E27FC236}">
                <a16:creationId xmlns:a16="http://schemas.microsoft.com/office/drawing/2014/main" id="{18FB12D7-DEA3-F652-B898-0B6C3FD4B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55" y="1414616"/>
            <a:ext cx="8927690" cy="470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Introducción al producto.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Análisis técnico.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Análisis del desarrollo.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tx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Puntos de interés.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Conclusión.</a:t>
            </a:r>
            <a:endParaRPr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2D061156-6FCB-4B13-2149-36A1D6B4E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21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7C320527-3AD6-869B-DF72-202760E4B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4C1F2C99-1A0C-6A30-76FD-1A8F6E8F65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7150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Gestión de cambios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2EF964-AEA3-13C1-EEBF-F34CAC3094E3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6BA0D55E-7AD3-C5CB-7D27-34FB1019B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6F558D4-87D6-0214-55B4-DBD3E22DA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268" y="1118165"/>
            <a:ext cx="8765459" cy="140586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E77D8C1-DDE6-F27F-FF84-3E171D60D0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268" y="2710055"/>
            <a:ext cx="8765459" cy="142187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4ECC15B-1987-759F-AB75-899F72A714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267" y="4317958"/>
            <a:ext cx="8765460" cy="140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8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6CE8DE4E-C6B6-0711-F816-6E543598B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9A654C8E-7F81-17B6-B283-2C8090723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7150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IA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ECDB7A1-1A26-03FC-F94E-38163EF6EE1B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B42C3A6D-D77A-070D-A74C-7D22D4775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  <p:sp>
        <p:nvSpPr>
          <p:cNvPr id="2" name="Google Shape;97;p3">
            <a:extLst>
              <a:ext uri="{FF2B5EF4-FFF2-40B4-BE49-F238E27FC236}">
                <a16:creationId xmlns:a16="http://schemas.microsoft.com/office/drawing/2014/main" id="{F7EAEFDE-81F4-62CE-1EC2-97972B7E1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55" y="1458883"/>
            <a:ext cx="8927690" cy="509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Se logró una gran funcionalidad con ‘Gemini’ dentro de la aplicación (Generación automática de Itinerarios).</a:t>
            </a:r>
          </a:p>
          <a:p>
            <a:pPr marL="0" indent="0">
              <a:spcBef>
                <a:spcPts val="0"/>
              </a:spcBef>
              <a:buClr>
                <a:srgbClr val="323232"/>
              </a:buClr>
              <a:buSzPct val="100000"/>
              <a:buNone/>
            </a:pPr>
            <a:endParaRPr lang="es-AR"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Se documento de forma clara y precisa el uso de la inteligencia artificial durante el transcurso de los 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sprints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Se adquirieron grandes conocimientos tanto en el uso</a:t>
            </a:r>
          </a:p>
          <a:p>
            <a:pPr marL="0" indent="0">
              <a:spcBef>
                <a:spcPts val="0"/>
              </a:spcBef>
              <a:buClr>
                <a:srgbClr val="323232"/>
              </a:buClr>
              <a:buSzPct val="100000"/>
              <a:buNone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    de la herramienta, como en la integración de las 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APIs</a:t>
            </a:r>
            <a:endParaRPr lang="es-AR"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marL="0" indent="0">
              <a:spcBef>
                <a:spcPts val="0"/>
              </a:spcBef>
              <a:buClr>
                <a:srgbClr val="323232"/>
              </a:buClr>
              <a:buSzPct val="100000"/>
              <a:buNone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    en el producto final.</a:t>
            </a:r>
          </a:p>
        </p:txBody>
      </p:sp>
    </p:spTree>
    <p:extLst>
      <p:ext uri="{BB962C8B-B14F-4D97-AF65-F5344CB8AC3E}">
        <p14:creationId xmlns:p14="http://schemas.microsoft.com/office/powerpoint/2010/main" val="732536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CF4CAF2E-95FB-5E8B-3596-3C045179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E6884AE3-CD6E-B81F-F004-5B7276F6F6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362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Agenda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1879BD-9E6C-03B1-E674-DD498B069730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sp>
        <p:nvSpPr>
          <p:cNvPr id="4" name="Google Shape;97;p3">
            <a:extLst>
              <a:ext uri="{FF2B5EF4-FFF2-40B4-BE49-F238E27FC236}">
                <a16:creationId xmlns:a16="http://schemas.microsoft.com/office/drawing/2014/main" id="{D593B3BE-6847-F9B7-D97B-D3FF52C95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55" y="1414616"/>
            <a:ext cx="8927690" cy="470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Introducción al producto.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Análisis técnico.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Análisis del desarrollo.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bg1">
                    <a:lumMod val="5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Puntos de interés.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b="1" dirty="0">
              <a:solidFill>
                <a:schemeClr val="bg1">
                  <a:lumMod val="50000"/>
                </a:schemeClr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b="1" dirty="0">
                <a:solidFill>
                  <a:schemeClr val="tx1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Conclusión.</a:t>
            </a:r>
            <a:endParaRPr b="1" dirty="0">
              <a:solidFill>
                <a:schemeClr val="tx1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D82A5704-1012-4F50-11F3-507D33286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6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A1279D49-5C21-2FE7-DFB4-855DBA1F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4D8EE476-B4CE-C6E3-4399-E417348B9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7150"/>
            <a:ext cx="8229600" cy="101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u="sng" dirty="0">
                <a:solidFill>
                  <a:srgbClr val="002060"/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Conclusión</a:t>
            </a:r>
            <a:endParaRPr sz="4800" b="1" u="sng" dirty="0">
              <a:solidFill>
                <a:srgbClr val="002060"/>
              </a:solidFill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3D1263-CAE8-3BDC-F1E9-0D5B0900D470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03CA0E72-7D58-7BC3-08CC-6F46B3857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01" y="5739835"/>
            <a:ext cx="763947" cy="763947"/>
          </a:xfrm>
          <a:prstGeom prst="rect">
            <a:avLst/>
          </a:prstGeom>
        </p:spPr>
      </p:pic>
      <p:sp>
        <p:nvSpPr>
          <p:cNvPr id="2" name="Google Shape;97;p3">
            <a:extLst>
              <a:ext uri="{FF2B5EF4-FFF2-40B4-BE49-F238E27FC236}">
                <a16:creationId xmlns:a16="http://schemas.microsoft.com/office/drawing/2014/main" id="{FE608C3A-92A4-5F79-205F-EF207A86B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55" y="1458883"/>
            <a:ext cx="8927690" cy="509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El producto obtenido cuenta con ’42’ 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features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(Diseñados, documentados e implementados en su completitud).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Se pudo modificar el </a:t>
            </a:r>
            <a:r>
              <a:rPr lang="es-AR" sz="2600" dirty="0" err="1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Scope</a:t>
            </a: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del producto de forma dinámica, según los requerimientos del cliente.</a:t>
            </a: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endParaRPr lang="es-AR" sz="2600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  <a:p>
            <a:pPr indent="-457200">
              <a:spcBef>
                <a:spcPts val="0"/>
              </a:spcBef>
              <a:buClr>
                <a:srgbClr val="323232"/>
              </a:buClr>
              <a:buSzPct val="100000"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Se logró un gran trabajo en equipo tanto para la</a:t>
            </a:r>
          </a:p>
          <a:p>
            <a:pPr marL="0" indent="0">
              <a:spcBef>
                <a:spcPts val="0"/>
              </a:spcBef>
              <a:buClr>
                <a:srgbClr val="323232"/>
              </a:buClr>
              <a:buSzPct val="100000"/>
              <a:buNone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    división de tareas, como para la distribución de</a:t>
            </a:r>
          </a:p>
          <a:p>
            <a:pPr marL="0" indent="0">
              <a:spcBef>
                <a:spcPts val="0"/>
              </a:spcBef>
              <a:buClr>
                <a:srgbClr val="323232"/>
              </a:buClr>
              <a:buSzPct val="100000"/>
              <a:buNone/>
            </a:pPr>
            <a:r>
              <a:rPr lang="es-AR" sz="26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     responsabilidades.</a:t>
            </a:r>
          </a:p>
        </p:txBody>
      </p:sp>
    </p:spTree>
    <p:extLst>
      <p:ext uri="{BB962C8B-B14F-4D97-AF65-F5344CB8AC3E}">
        <p14:creationId xmlns:p14="http://schemas.microsoft.com/office/powerpoint/2010/main" val="2402947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8CBF577E-F5A3-F746-4C10-EF4812D9D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A02DCC79-DB7D-B0F6-AC25-C267D3DF1D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5A"/>
              </a:buClr>
              <a:buSzPts val="4800"/>
              <a:buFont typeface="Arial"/>
              <a:buNone/>
            </a:pPr>
            <a:r>
              <a:rPr lang="es-AR" sz="4800" b="1" i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  <a:sym typeface="Arial"/>
              </a:rPr>
              <a:t>¡Gracias por su atención!</a:t>
            </a:r>
            <a:endParaRPr sz="4800" b="1" i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622A541-D197-159C-9B9F-ADA74CD96094}"/>
              </a:ext>
            </a:extLst>
          </p:cNvPr>
          <p:cNvSpPr txBox="1"/>
          <p:nvPr/>
        </p:nvSpPr>
        <p:spPr>
          <a:xfrm>
            <a:off x="8114551" y="6445088"/>
            <a:ext cx="102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Grupo 1</a:t>
            </a:r>
            <a:endParaRPr lang="es-AR" b="1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4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651</Words>
  <Application>Microsoft Office PowerPoint</Application>
  <PresentationFormat>Presentación en pantalla (4:3)</PresentationFormat>
  <Paragraphs>138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Nirmala UI Semilight</vt:lpstr>
      <vt:lpstr>Office Theme</vt:lpstr>
      <vt:lpstr>Plan &amp; Go</vt:lpstr>
      <vt:lpstr>Agenda</vt:lpstr>
      <vt:lpstr>Product Vision</vt:lpstr>
      <vt:lpstr>¿Quién usa nuestro producto?</vt:lpstr>
      <vt:lpstr>Agenda</vt:lpstr>
      <vt:lpstr>Arquitectura</vt:lpstr>
      <vt:lpstr>Funcionalidades</vt:lpstr>
      <vt:lpstr>Agenda</vt:lpstr>
      <vt:lpstr>¿Cómo distribuimos la historias de usuario?</vt:lpstr>
      <vt:lpstr>Rendimiento en el desarrollo</vt:lpstr>
      <vt:lpstr>Rendimiento en el desarrollo</vt:lpstr>
      <vt:lpstr>Rendimiento en el desarrollo</vt:lpstr>
      <vt:lpstr>Agenda</vt:lpstr>
      <vt:lpstr>Gestión de cambios</vt:lpstr>
      <vt:lpstr>IA</vt:lpstr>
      <vt:lpstr>Agenda</vt:lpstr>
      <vt:lpstr>Conclusión</vt:lpstr>
      <vt:lpstr>¡Gracias por su atención!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Santino Ascencio</cp:lastModifiedBy>
  <cp:revision>30</cp:revision>
  <dcterms:created xsi:type="dcterms:W3CDTF">2013-01-27T09:14:16Z</dcterms:created>
  <dcterms:modified xsi:type="dcterms:W3CDTF">2025-11-23T14:00:30Z</dcterms:modified>
</cp:coreProperties>
</file>