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y="5143500" cx="9144000"/>
  <p:notesSz cx="6858000" cy="9144000"/>
  <p:embeddedFontLst>
    <p:embeddedFont>
      <p:font typeface="Proxima Nova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ProximaNova-bold.fntdata"/><Relationship Id="rId25" Type="http://schemas.openxmlformats.org/officeDocument/2006/relationships/font" Target="fonts/ProximaNova-regular.fntdata"/><Relationship Id="rId28" Type="http://schemas.openxmlformats.org/officeDocument/2006/relationships/font" Target="fonts/ProximaNova-boldItalic.fntdata"/><Relationship Id="rId27" Type="http://schemas.openxmlformats.org/officeDocument/2006/relationships/font" Target="fonts/ProximaNova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14febbd9f39_0_2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14febbd9f39_0_2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Duracion: 10 min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4febbd9f39_0_2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4febbd9f39_0_2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02d4881a4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202d4881a4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14febbd9f39_0_2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14febbd9f39_0_2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656d2e009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656d2e009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656d2e0098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656d2e0098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Corresponde a la solapa </a:t>
            </a:r>
            <a:r>
              <a:rPr b="1" lang="es" sz="12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Sprint N</a:t>
            </a:r>
            <a:r>
              <a:rPr b="1" lang="es" sz="900">
                <a:solidFill>
                  <a:schemeClr val="dk1"/>
                </a:solidFill>
              </a:rPr>
              <a:t> </a:t>
            </a:r>
            <a:r>
              <a:rPr lang="es">
                <a:solidFill>
                  <a:schemeClr val="dk1"/>
                </a:solidFill>
              </a:rPr>
              <a:t>de la planilla de artefactos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9b8ecd25c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9b8ecd25c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Corresponde a la solapa </a:t>
            </a:r>
            <a:r>
              <a:rPr b="1" lang="es" sz="12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Sprint N</a:t>
            </a:r>
            <a:r>
              <a:rPr b="1" lang="es" sz="900">
                <a:solidFill>
                  <a:schemeClr val="dk1"/>
                </a:solidFill>
              </a:rPr>
              <a:t> </a:t>
            </a:r>
            <a:r>
              <a:rPr lang="es">
                <a:solidFill>
                  <a:schemeClr val="dk1"/>
                </a:solidFill>
              </a:rPr>
              <a:t>de la planilla de artefactos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a002c209b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a002c209b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Corresponde a la solapa </a:t>
            </a:r>
            <a:r>
              <a:rPr b="1" lang="es" sz="12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Sprint N</a:t>
            </a:r>
            <a:r>
              <a:rPr b="1" lang="es" sz="900">
                <a:solidFill>
                  <a:schemeClr val="dk1"/>
                </a:solidFill>
              </a:rPr>
              <a:t> </a:t>
            </a:r>
            <a:r>
              <a:rPr lang="es">
                <a:solidFill>
                  <a:schemeClr val="dk1"/>
                </a:solidFill>
              </a:rPr>
              <a:t>de la planilla de artefactos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a670cf1357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a670cf1357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Corresponde a la solapa </a:t>
            </a:r>
            <a:r>
              <a:rPr b="1" lang="es" sz="12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Sprint N</a:t>
            </a:r>
            <a:r>
              <a:rPr b="1" lang="es" sz="900">
                <a:solidFill>
                  <a:schemeClr val="dk1"/>
                </a:solidFill>
              </a:rPr>
              <a:t> </a:t>
            </a:r>
            <a:r>
              <a:rPr lang="es">
                <a:solidFill>
                  <a:schemeClr val="dk1"/>
                </a:solidFill>
              </a:rPr>
              <a:t>de la planilla de artefactos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9b8ecd25c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9b8ecd25c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Corresponde a la solapa </a:t>
            </a:r>
            <a:r>
              <a:rPr b="1" lang="es" sz="12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Sprint N</a:t>
            </a:r>
            <a:r>
              <a:rPr b="1" lang="es" sz="900">
                <a:solidFill>
                  <a:schemeClr val="dk1"/>
                </a:solidFill>
              </a:rPr>
              <a:t> </a:t>
            </a:r>
            <a:r>
              <a:rPr lang="es">
                <a:solidFill>
                  <a:schemeClr val="dk1"/>
                </a:solidFill>
              </a:rPr>
              <a:t>de la planilla de artefactos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1f3beb2b3c7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1f3beb2b3c7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c181aeb76c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2c181aeb76c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Corresponde a la solapa </a:t>
            </a:r>
            <a:r>
              <a:rPr b="1" lang="es" sz="12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Sprint N</a:t>
            </a:r>
            <a:r>
              <a:rPr b="1" lang="es" sz="900">
                <a:solidFill>
                  <a:schemeClr val="dk1"/>
                </a:solidFill>
              </a:rPr>
              <a:t> </a:t>
            </a:r>
            <a:r>
              <a:rPr lang="es">
                <a:solidFill>
                  <a:schemeClr val="dk1"/>
                </a:solidFill>
              </a:rPr>
              <a:t>de la planilla de artefactos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701dfd60ee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701dfd60ee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Corresponde a la solapa </a:t>
            </a:r>
            <a:r>
              <a:rPr b="1" lang="es" sz="12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Sprint N</a:t>
            </a:r>
            <a:r>
              <a:rPr b="1" lang="es" sz="900">
                <a:solidFill>
                  <a:schemeClr val="dk1"/>
                </a:solidFill>
              </a:rPr>
              <a:t> </a:t>
            </a:r>
            <a:r>
              <a:rPr lang="es">
                <a:solidFill>
                  <a:schemeClr val="dk1"/>
                </a:solidFill>
              </a:rPr>
              <a:t>de la planilla de artefactos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a002c209bb_1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a002c209bb_1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Corresponde a la solapa </a:t>
            </a:r>
            <a:r>
              <a:rPr b="1" lang="es" sz="12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Sprint N</a:t>
            </a:r>
            <a:r>
              <a:rPr b="1" lang="es" sz="900">
                <a:solidFill>
                  <a:schemeClr val="dk1"/>
                </a:solidFill>
              </a:rPr>
              <a:t> </a:t>
            </a:r>
            <a:r>
              <a:rPr lang="es">
                <a:solidFill>
                  <a:schemeClr val="dk1"/>
                </a:solidFill>
              </a:rPr>
              <a:t>de la planilla de artefactos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a187941de6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2a187941de6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Corresponde a la solapa </a:t>
            </a:r>
            <a:r>
              <a:rPr b="1" lang="es"/>
              <a:t>avance</a:t>
            </a:r>
            <a:r>
              <a:rPr lang="es"/>
              <a:t> de la planilla de artefactos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8d66e5b018_5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8d66e5b018_5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14febbd9f39_0_2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14febbd9f39_0_2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701dfd60ee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701dfd60ee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" name="Google Shape;11;p2"/>
          <p:cNvSpPr txBox="1"/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510450" y="3182313"/>
            <a:ext cx="8123100" cy="63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Google Shape;15;p3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" name="Google Shape;16;p3"/>
          <p:cNvSpPr txBox="1"/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3" name="Google Shape;33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7" name="Google Shape;37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0" name="Google Shape;4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05825"/>
            <a:ext cx="4045200" cy="1509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1700" y="42368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</a:lstStyle>
          <a:p/>
        </p:txBody>
      </p:sp>
      <p:sp>
        <p:nvSpPr>
          <p:cNvPr id="47" name="Google Shape;47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991475"/>
            <a:ext cx="8520600" cy="1917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071300"/>
            <a:ext cx="8520600" cy="90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pearmin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3.png"/><Relationship Id="rId6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GRUPO 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CIERRE SPRINT 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User Stories Planificadas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/>
          <p:nvPr/>
        </p:nvSpPr>
        <p:spPr>
          <a:xfrm>
            <a:off x="397584" y="333877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8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Historias de usuario</a:t>
            </a:r>
            <a:endParaRPr b="1" sz="28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0" name="Google Shape;70;p15"/>
          <p:cNvSpPr txBox="1"/>
          <p:nvPr/>
        </p:nvSpPr>
        <p:spPr>
          <a:xfrm>
            <a:off x="333700" y="1141300"/>
            <a:ext cx="6574800" cy="29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81875" lIns="81875" spcFirstLastPara="1" rIns="81875" wrap="square" tIns="8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307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US 8.1 </a:t>
            </a:r>
            <a:r>
              <a:rPr lang="es" sz="2207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Recomendación</a:t>
            </a:r>
            <a:r>
              <a:rPr lang="es" sz="2207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 de conexiones </a:t>
            </a:r>
            <a:r>
              <a:rPr lang="es" sz="2207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según</a:t>
            </a:r>
            <a:r>
              <a:rPr lang="es" sz="2207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 similitud de preferencias</a:t>
            </a:r>
            <a:endParaRPr sz="2207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307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US 8.2 Ver itinerarios de</a:t>
            </a:r>
            <a:r>
              <a:rPr lang="es" sz="2307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 otros viajeros</a:t>
            </a:r>
            <a:endParaRPr sz="2307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307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US 8.3 Búsqueda manual de perfiles compatibles</a:t>
            </a:r>
            <a:endParaRPr sz="2307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307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US 8.4 Ver perfil con favoritos de viajeros</a:t>
            </a:r>
            <a:endParaRPr sz="2307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307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US 7.2 Historial de puntos: </a:t>
            </a:r>
            <a:r>
              <a:rPr lang="es" sz="225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Pestaña de puntos disponibles (Premium)</a:t>
            </a:r>
            <a:endParaRPr sz="2307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307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US 7.1 Acumular puntos por reseñas</a:t>
            </a:r>
            <a:endParaRPr sz="2307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07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6883519" y="1835780"/>
            <a:ext cx="987600" cy="3267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71150" lIns="71150" spcFirstLastPara="1" rIns="71150" wrap="square" tIns="7115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189">
                <a:latin typeface="Proxima Nova"/>
                <a:ea typeface="Proxima Nova"/>
                <a:cs typeface="Proxima Nova"/>
                <a:sym typeface="Proxima Nova"/>
              </a:rPr>
              <a:t>5 SP</a:t>
            </a:r>
            <a:endParaRPr b="1" sz="1189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6883678" y="2216546"/>
            <a:ext cx="987600" cy="3267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71150" lIns="71150" spcFirstLastPara="1" rIns="71150" wrap="square" tIns="7115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189">
                <a:latin typeface="Proxima Nova"/>
                <a:ea typeface="Proxima Nova"/>
                <a:cs typeface="Proxima Nova"/>
                <a:sym typeface="Proxima Nova"/>
              </a:rPr>
              <a:t>8 SP</a:t>
            </a:r>
            <a:endParaRPr b="1" sz="1189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6883519" y="2652802"/>
            <a:ext cx="987600" cy="3267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71150" lIns="71150" spcFirstLastPara="1" rIns="71150" wrap="square" tIns="7115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189">
                <a:latin typeface="Proxima Nova"/>
                <a:ea typeface="Proxima Nova"/>
                <a:cs typeface="Proxima Nova"/>
                <a:sym typeface="Proxima Nova"/>
              </a:rPr>
              <a:t>6 SP</a:t>
            </a:r>
            <a:endParaRPr b="1" sz="1189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4" name="Google Shape;74;p15"/>
          <p:cNvSpPr txBox="1"/>
          <p:nvPr/>
        </p:nvSpPr>
        <p:spPr>
          <a:xfrm>
            <a:off x="6883683" y="3167058"/>
            <a:ext cx="987300" cy="3267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71125" lIns="71125" spcFirstLastPara="1" rIns="71125" wrap="square" tIns="711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189">
                <a:latin typeface="Proxima Nova"/>
                <a:ea typeface="Proxima Nova"/>
                <a:cs typeface="Proxima Nova"/>
                <a:sym typeface="Proxima Nova"/>
              </a:rPr>
              <a:t>5 SP</a:t>
            </a:r>
            <a:endParaRPr b="1" sz="1189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5" name="Google Shape;75;p15"/>
          <p:cNvSpPr txBox="1"/>
          <p:nvPr/>
        </p:nvSpPr>
        <p:spPr>
          <a:xfrm>
            <a:off x="6883678" y="3682435"/>
            <a:ext cx="987300" cy="3267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71125" lIns="71125" spcFirstLastPara="1" rIns="71125" wrap="square" tIns="711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189">
                <a:latin typeface="Proxima Nova"/>
                <a:ea typeface="Proxima Nova"/>
                <a:cs typeface="Proxima Nova"/>
                <a:sym typeface="Proxima Nova"/>
              </a:rPr>
              <a:t>5 SP</a:t>
            </a:r>
            <a:endParaRPr b="1" sz="1189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6" name="Google Shape;76;p15"/>
          <p:cNvSpPr txBox="1"/>
          <p:nvPr/>
        </p:nvSpPr>
        <p:spPr>
          <a:xfrm>
            <a:off x="6883678" y="1264709"/>
            <a:ext cx="987600" cy="3267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71150" lIns="71150" spcFirstLastPara="1" rIns="71150" wrap="square" tIns="7115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189">
                <a:latin typeface="Proxima Nova"/>
                <a:ea typeface="Proxima Nova"/>
                <a:cs typeface="Proxima Nova"/>
                <a:sym typeface="Proxima Nova"/>
              </a:rPr>
              <a:t>8 SP</a:t>
            </a:r>
            <a:endParaRPr b="1" sz="1189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7" name="Google Shape;77;p15"/>
          <p:cNvSpPr txBox="1"/>
          <p:nvPr/>
        </p:nvSpPr>
        <p:spPr>
          <a:xfrm>
            <a:off x="416669" y="4009125"/>
            <a:ext cx="25932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9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Velocity Total:</a:t>
            </a:r>
            <a:endParaRPr sz="1900">
              <a:solidFill>
                <a:srgbClr val="61616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8" name="Google Shape;78;p15"/>
          <p:cNvSpPr txBox="1"/>
          <p:nvPr/>
        </p:nvSpPr>
        <p:spPr>
          <a:xfrm>
            <a:off x="2946926" y="4070775"/>
            <a:ext cx="962400" cy="5079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100">
                <a:latin typeface="Proxima Nova"/>
                <a:ea typeface="Proxima Nova"/>
                <a:cs typeface="Proxima Nova"/>
                <a:sym typeface="Proxima Nova"/>
              </a:rPr>
              <a:t>37 SP</a:t>
            </a:r>
            <a:endParaRPr b="1" sz="21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9" name="Google Shape;79;p15"/>
          <p:cNvSpPr txBox="1"/>
          <p:nvPr/>
        </p:nvSpPr>
        <p:spPr>
          <a:xfrm>
            <a:off x="7924532" y="1834437"/>
            <a:ext cx="987600" cy="326700"/>
          </a:xfrm>
          <a:prstGeom prst="rect">
            <a:avLst/>
          </a:prstGeom>
          <a:solidFill>
            <a:srgbClr val="4BA173"/>
          </a:solidFill>
          <a:ln>
            <a:noFill/>
          </a:ln>
        </p:spPr>
        <p:txBody>
          <a:bodyPr anchorCtr="0" anchor="t" bIns="71150" lIns="71150" spcFirstLastPara="1" rIns="71150" wrap="square" tIns="7115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189">
                <a:latin typeface="Proxima Nova"/>
                <a:ea typeface="Proxima Nova"/>
                <a:cs typeface="Proxima Nova"/>
                <a:sym typeface="Proxima Nova"/>
              </a:rPr>
              <a:t>Completado</a:t>
            </a:r>
            <a:endParaRPr b="1" sz="1189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80" name="Google Shape;80;p15"/>
          <p:cNvSpPr txBox="1"/>
          <p:nvPr/>
        </p:nvSpPr>
        <p:spPr>
          <a:xfrm>
            <a:off x="7924691" y="2215203"/>
            <a:ext cx="987600" cy="326700"/>
          </a:xfrm>
          <a:prstGeom prst="rect">
            <a:avLst/>
          </a:prstGeom>
          <a:solidFill>
            <a:srgbClr val="4BA173"/>
          </a:solidFill>
          <a:ln>
            <a:noFill/>
          </a:ln>
        </p:spPr>
        <p:txBody>
          <a:bodyPr anchorCtr="0" anchor="t" bIns="71150" lIns="71150" spcFirstLastPara="1" rIns="71150" wrap="square" tIns="7115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189">
                <a:latin typeface="Proxima Nova"/>
                <a:ea typeface="Proxima Nova"/>
                <a:cs typeface="Proxima Nova"/>
                <a:sym typeface="Proxima Nova"/>
              </a:rPr>
              <a:t>Completado</a:t>
            </a:r>
            <a:endParaRPr b="1" sz="1189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81" name="Google Shape;81;p15"/>
          <p:cNvSpPr txBox="1"/>
          <p:nvPr/>
        </p:nvSpPr>
        <p:spPr>
          <a:xfrm>
            <a:off x="7924532" y="2651459"/>
            <a:ext cx="987600" cy="326700"/>
          </a:xfrm>
          <a:prstGeom prst="rect">
            <a:avLst/>
          </a:prstGeom>
          <a:solidFill>
            <a:srgbClr val="4BA173"/>
          </a:solidFill>
          <a:ln>
            <a:noFill/>
          </a:ln>
        </p:spPr>
        <p:txBody>
          <a:bodyPr anchorCtr="0" anchor="t" bIns="71150" lIns="71150" spcFirstLastPara="1" rIns="71150" wrap="square" tIns="7115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189">
                <a:latin typeface="Proxima Nova"/>
                <a:ea typeface="Proxima Nova"/>
                <a:cs typeface="Proxima Nova"/>
                <a:sym typeface="Proxima Nova"/>
              </a:rPr>
              <a:t>Completado</a:t>
            </a:r>
            <a:endParaRPr b="1" sz="1189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82" name="Google Shape;82;p15"/>
          <p:cNvSpPr txBox="1"/>
          <p:nvPr/>
        </p:nvSpPr>
        <p:spPr>
          <a:xfrm>
            <a:off x="7924696" y="3165715"/>
            <a:ext cx="987300" cy="326700"/>
          </a:xfrm>
          <a:prstGeom prst="rect">
            <a:avLst/>
          </a:prstGeom>
          <a:solidFill>
            <a:srgbClr val="4BA173"/>
          </a:solidFill>
          <a:ln>
            <a:noFill/>
          </a:ln>
        </p:spPr>
        <p:txBody>
          <a:bodyPr anchorCtr="0" anchor="t" bIns="71125" lIns="71125" spcFirstLastPara="1" rIns="71125" wrap="square" tIns="711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189">
                <a:latin typeface="Proxima Nova"/>
                <a:ea typeface="Proxima Nova"/>
                <a:cs typeface="Proxima Nova"/>
                <a:sym typeface="Proxima Nova"/>
              </a:rPr>
              <a:t>Completado</a:t>
            </a:r>
            <a:endParaRPr b="1" sz="1189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83" name="Google Shape;83;p15"/>
          <p:cNvSpPr txBox="1"/>
          <p:nvPr/>
        </p:nvSpPr>
        <p:spPr>
          <a:xfrm>
            <a:off x="7924691" y="3681091"/>
            <a:ext cx="987300" cy="326700"/>
          </a:xfrm>
          <a:prstGeom prst="rect">
            <a:avLst/>
          </a:prstGeom>
          <a:solidFill>
            <a:srgbClr val="4BA173"/>
          </a:solidFill>
          <a:ln>
            <a:noFill/>
          </a:ln>
        </p:spPr>
        <p:txBody>
          <a:bodyPr anchorCtr="0" anchor="t" bIns="71125" lIns="71125" spcFirstLastPara="1" rIns="71125" wrap="square" tIns="711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189">
                <a:latin typeface="Proxima Nova"/>
                <a:ea typeface="Proxima Nova"/>
                <a:cs typeface="Proxima Nova"/>
                <a:sym typeface="Proxima Nova"/>
              </a:rPr>
              <a:t>Completado</a:t>
            </a:r>
            <a:endParaRPr b="1" sz="1189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84" name="Google Shape;84;p15"/>
          <p:cNvSpPr txBox="1"/>
          <p:nvPr/>
        </p:nvSpPr>
        <p:spPr>
          <a:xfrm>
            <a:off x="7924691" y="1263366"/>
            <a:ext cx="987600" cy="326700"/>
          </a:xfrm>
          <a:prstGeom prst="rect">
            <a:avLst/>
          </a:prstGeom>
          <a:solidFill>
            <a:srgbClr val="4BA173"/>
          </a:solidFill>
          <a:ln>
            <a:noFill/>
          </a:ln>
        </p:spPr>
        <p:txBody>
          <a:bodyPr anchorCtr="0" anchor="t" bIns="71150" lIns="71150" spcFirstLastPara="1" rIns="71150" wrap="square" tIns="7115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189">
                <a:latin typeface="Proxima Nova"/>
                <a:ea typeface="Proxima Nova"/>
                <a:cs typeface="Proxima Nova"/>
                <a:sym typeface="Proxima Nova"/>
              </a:rPr>
              <a:t>Completado</a:t>
            </a:r>
            <a:endParaRPr b="1" sz="1189"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 txBox="1"/>
          <p:nvPr/>
        </p:nvSpPr>
        <p:spPr>
          <a:xfrm>
            <a:off x="1470850" y="4091800"/>
            <a:ext cx="2103900" cy="4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Velocity actual: 37 SP</a:t>
            </a:r>
            <a:endParaRPr b="1">
              <a:solidFill>
                <a:schemeClr val="accent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90" name="Google Shape;90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" sz="3020"/>
              <a:t>Métricas</a:t>
            </a:r>
            <a:endParaRPr b="1" sz="3020"/>
          </a:p>
        </p:txBody>
      </p:sp>
      <p:pic>
        <p:nvPicPr>
          <p:cNvPr id="91" name="Google Shape;91;p16" title="Gráfico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475" y="1246813"/>
            <a:ext cx="4230549" cy="2580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6" title="Gráfico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83424" y="1170125"/>
            <a:ext cx="4408176" cy="27257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" sz="3020"/>
              <a:t>Métricas</a:t>
            </a:r>
            <a:endParaRPr b="1" sz="3020"/>
          </a:p>
        </p:txBody>
      </p:sp>
      <p:pic>
        <p:nvPicPr>
          <p:cNvPr id="98" name="Google Shape;98;p17" title="Gráfico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50088"/>
            <a:ext cx="4267200" cy="2243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7" title="Gráfico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1410025"/>
            <a:ext cx="4419600" cy="23234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8"/>
          <p:cNvSpPr txBox="1"/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Uso de IA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 txBox="1"/>
          <p:nvPr/>
        </p:nvSpPr>
        <p:spPr>
          <a:xfrm>
            <a:off x="311700" y="1322100"/>
            <a:ext cx="8731800" cy="23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Char char="-"/>
            </a:pPr>
            <a:r>
              <a:rPr lang="es"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Herramienta utilizada: ChatGPT, Gemini y Copilot</a:t>
            </a:r>
            <a:endParaRPr sz="28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Char char="-"/>
            </a:pPr>
            <a:r>
              <a:rPr lang="es"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Versiones e iteraciones: Se le envió contexto con código ya hecho con el fin de generar código nuevo. Se utilizó también para resolución de errores. </a:t>
            </a:r>
            <a:endParaRPr sz="19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10" name="Google Shape;110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" sz="3020"/>
              <a:t>Uso de IA</a:t>
            </a:r>
            <a:endParaRPr b="1" sz="302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" sz="3020"/>
              <a:t>Uso de IA - Ejemplos</a:t>
            </a:r>
            <a:endParaRPr b="1" sz="3020"/>
          </a:p>
        </p:txBody>
      </p:sp>
      <p:sp>
        <p:nvSpPr>
          <p:cNvPr id="116" name="Google Shape;116;p20"/>
          <p:cNvSpPr txBox="1"/>
          <p:nvPr/>
        </p:nvSpPr>
        <p:spPr>
          <a:xfrm>
            <a:off x="532850" y="1435400"/>
            <a:ext cx="7896900" cy="19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300"/>
              <a:t>- Herramienta utilizada: ChatGPT, Gemini y Copilot</a:t>
            </a:r>
            <a:endParaRPr sz="2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300"/>
              <a:t>- Versiones e iteraciones: Se le envió contexto con</a:t>
            </a:r>
            <a:endParaRPr sz="2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300"/>
              <a:t>código ya hecho con el fin de generar código</a:t>
            </a:r>
            <a:endParaRPr sz="2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300"/>
              <a:t>nuevo. Se utilizó también para resolución de</a:t>
            </a:r>
            <a:endParaRPr sz="2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300"/>
              <a:t>errores.</a:t>
            </a:r>
            <a:endParaRPr sz="23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" sz="3020"/>
              <a:t>Uso de IA - Ejemplos</a:t>
            </a:r>
            <a:endParaRPr b="1" sz="3020"/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3731875" cy="2354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6800" y="3676975"/>
            <a:ext cx="3779130" cy="1356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81176" y="261174"/>
            <a:ext cx="3552800" cy="2197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1"/>
          <p:cNvPicPr preferRelativeResize="0"/>
          <p:nvPr/>
        </p:nvPicPr>
        <p:blipFill rotWithShape="1">
          <a:blip r:embed="rId6">
            <a:alphaModFix/>
          </a:blip>
          <a:srcRect b="0" l="0" r="0" t="13449"/>
          <a:stretch/>
        </p:blipFill>
        <p:spPr>
          <a:xfrm>
            <a:off x="4681175" y="2459000"/>
            <a:ext cx="3552800" cy="162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" sz="3020"/>
              <a:t>Uso de IA - Ejemplos</a:t>
            </a:r>
            <a:endParaRPr b="1" sz="3020"/>
          </a:p>
        </p:txBody>
      </p:sp>
      <p:pic>
        <p:nvPicPr>
          <p:cNvPr id="131" name="Google Shape;13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20425" y="1104875"/>
            <a:ext cx="6172820" cy="3820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3"/>
          <p:cNvSpPr txBox="1"/>
          <p:nvPr/>
        </p:nvSpPr>
        <p:spPr>
          <a:xfrm>
            <a:off x="311700" y="1322100"/>
            <a:ext cx="87318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roxima Nova"/>
              <a:buChar char="●"/>
            </a:pPr>
            <a:r>
              <a:rPr lang="es" sz="21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Acelera el diseño y la codificación y el debugging.</a:t>
            </a:r>
            <a:endParaRPr sz="21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roxima Nova"/>
              <a:buChar char="●"/>
            </a:pPr>
            <a:r>
              <a:rPr lang="es" sz="21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Permitió optimizar la lógica de recomendación y filtrado, evitando errores manuales.</a:t>
            </a:r>
            <a:endParaRPr sz="21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roxima Nova"/>
              <a:buChar char="●"/>
            </a:pPr>
            <a:r>
              <a:rPr lang="es" sz="21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Facilitó la depuración y refactorización del proyecto.</a:t>
            </a:r>
            <a:endParaRPr sz="21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roxima Nova"/>
              <a:buChar char="●"/>
            </a:pPr>
            <a:r>
              <a:rPr lang="es" sz="21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Ayudó a mantener consistencia entre backend y frontend, generando estructuras de datos y endpoints más claros.</a:t>
            </a:r>
            <a:endParaRPr sz="21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37" name="Google Shape;137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" sz="3020"/>
              <a:t>Uso de IA - Justificación de Resultado Final</a:t>
            </a:r>
            <a:endParaRPr b="1" sz="302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Retro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5"/>
          <p:cNvSpPr txBox="1"/>
          <p:nvPr/>
        </p:nvSpPr>
        <p:spPr>
          <a:xfrm>
            <a:off x="311700" y="974360"/>
            <a:ext cx="8382000" cy="391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2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Cambios en los riesgos principales frente a las acciones de mitigación y al avance del proyecto</a:t>
            </a:r>
            <a:endParaRPr sz="22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s" sz="20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Desconocimiento de herramientas en integración con IA</a:t>
            </a:r>
            <a:endParaRPr b="1" sz="20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ts val="1800"/>
              <a:buFont typeface="Proxima Nova"/>
              <a:buChar char="-"/>
            </a:pPr>
            <a:r>
              <a:rPr lang="es" sz="18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Estado: </a:t>
            </a:r>
            <a:r>
              <a:rPr b="1" lang="es" sz="1800">
                <a:solidFill>
                  <a:srgbClr val="4BA173"/>
                </a:solidFill>
                <a:latin typeface="Proxima Nova"/>
                <a:ea typeface="Proxima Nova"/>
                <a:cs typeface="Proxima Nova"/>
                <a:sym typeface="Proxima Nova"/>
              </a:rPr>
              <a:t>cerrado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Proxima Nova"/>
              <a:buChar char="-"/>
            </a:pPr>
            <a:r>
              <a:rPr lang="es" sz="1800">
                <a:latin typeface="Proxima Nova"/>
                <a:ea typeface="Proxima Nova"/>
                <a:cs typeface="Proxima Nova"/>
                <a:sym typeface="Proxima Nova"/>
              </a:rPr>
              <a:t>Detalle: Se completó la implementación de la IA. El desconocimiento ya no es un riesgo.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0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Baja de un integrante</a:t>
            </a:r>
            <a:endParaRPr b="1" sz="20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ts val="1800"/>
              <a:buFont typeface="Proxima Nova"/>
              <a:buChar char="-"/>
            </a:pPr>
            <a:r>
              <a:rPr lang="es" sz="18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Estado: </a:t>
            </a:r>
            <a:r>
              <a:rPr b="1" lang="es" sz="1800">
                <a:solidFill>
                  <a:srgbClr val="E69138"/>
                </a:solidFill>
                <a:latin typeface="Proxima Nova"/>
                <a:ea typeface="Proxima Nova"/>
                <a:cs typeface="Proxima Nova"/>
                <a:sym typeface="Proxima Nova"/>
              </a:rPr>
              <a:t>abierto</a:t>
            </a:r>
            <a:endParaRPr sz="1800">
              <a:solidFill>
                <a:srgbClr val="E69138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Proxima Nova"/>
              <a:buChar char="-"/>
            </a:pPr>
            <a:r>
              <a:rPr lang="es" sz="1800">
                <a:latin typeface="Proxima Nova"/>
                <a:ea typeface="Proxima Nova"/>
                <a:cs typeface="Proxima Nova"/>
                <a:sym typeface="Proxima Nova"/>
              </a:rPr>
              <a:t>Detalle: El riesgo no se materializó. Se mantienen las mitigaciones (pair programming, sprint reviews) para reducir el impacto si ocurriera.</a:t>
            </a:r>
            <a:endParaRPr sz="18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48" name="Google Shape;148;p25"/>
          <p:cNvSpPr txBox="1"/>
          <p:nvPr/>
        </p:nvSpPr>
        <p:spPr>
          <a:xfrm>
            <a:off x="311700" y="2254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02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Sprint 4 - Evolución de Riesgos</a:t>
            </a:r>
            <a:endParaRPr b="1" sz="302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6"/>
          <p:cNvSpPr txBox="1"/>
          <p:nvPr/>
        </p:nvSpPr>
        <p:spPr>
          <a:xfrm>
            <a:off x="311700" y="1183446"/>
            <a:ext cx="8382000" cy="35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2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Cambios en los riesgos principales frente a las acciones de mitigación y al avance del proyecto</a:t>
            </a:r>
            <a:endParaRPr sz="22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s" sz="20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Dependencia de terceros (APIs, cuotas y costos)</a:t>
            </a:r>
            <a:endParaRPr b="1" sz="20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ts val="1800"/>
              <a:buFont typeface="Proxima Nova"/>
              <a:buChar char="-"/>
            </a:pPr>
            <a:r>
              <a:rPr lang="es" sz="18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Estado: </a:t>
            </a:r>
            <a:r>
              <a:rPr b="1" lang="es" sz="1800">
                <a:solidFill>
                  <a:srgbClr val="F1C232"/>
                </a:solidFill>
                <a:latin typeface="Proxima Nova"/>
                <a:ea typeface="Proxima Nova"/>
                <a:cs typeface="Proxima Nova"/>
                <a:sym typeface="Proxima Nova"/>
              </a:rPr>
              <a:t>abierto</a:t>
            </a:r>
            <a:endParaRPr sz="1800">
              <a:solidFill>
                <a:srgbClr val="F1C232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Proxima Nova"/>
              <a:buChar char="-"/>
            </a:pPr>
            <a:r>
              <a:rPr lang="es" sz="1800">
                <a:latin typeface="Proxima Nova"/>
                <a:ea typeface="Proxima Nova"/>
                <a:cs typeface="Proxima Nova"/>
                <a:sym typeface="Proxima Nova"/>
              </a:rPr>
              <a:t>Detalle: El monitoreo de APIs (mitigación) no reportó incidentes y el consumo se mantiene estable. Reducimos la probabilidad percibida.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0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Caída de sistemas de terceros</a:t>
            </a:r>
            <a:endParaRPr b="1" sz="20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ts val="1800"/>
              <a:buFont typeface="Proxima Nova"/>
              <a:buChar char="-"/>
            </a:pPr>
            <a:r>
              <a:rPr lang="es" sz="18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Estado: </a:t>
            </a:r>
            <a:r>
              <a:rPr b="1" lang="es" sz="1800">
                <a:solidFill>
                  <a:srgbClr val="E69138"/>
                </a:solidFill>
                <a:latin typeface="Proxima Nova"/>
                <a:ea typeface="Proxima Nova"/>
                <a:cs typeface="Proxima Nova"/>
                <a:sym typeface="Proxima Nova"/>
              </a:rPr>
              <a:t>abierto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Proxima Nova"/>
              <a:buChar char="-"/>
            </a:pPr>
            <a:r>
              <a:rPr lang="es" sz="1800">
                <a:latin typeface="Proxima Nova"/>
                <a:ea typeface="Proxima Nova"/>
                <a:cs typeface="Proxima Nova"/>
                <a:sym typeface="Proxima Nova"/>
              </a:rPr>
              <a:t>Detalle: Sin cambios. Es un riesgo externo que no podemos controlar. Mantenemos el monitoreo y el plan de contingencia.</a:t>
            </a:r>
            <a:endParaRPr sz="24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54" name="Google Shape;154;p26"/>
          <p:cNvSpPr txBox="1"/>
          <p:nvPr/>
        </p:nvSpPr>
        <p:spPr>
          <a:xfrm>
            <a:off x="311700" y="434571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02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Sprint 4 - Evolución de Riesgos</a:t>
            </a:r>
            <a:endParaRPr b="1" sz="302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7"/>
          <p:cNvSpPr txBox="1"/>
          <p:nvPr/>
        </p:nvSpPr>
        <p:spPr>
          <a:xfrm>
            <a:off x="311700" y="1193900"/>
            <a:ext cx="8382000" cy="31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s" sz="24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Aspectos Positivos</a:t>
            </a:r>
            <a:endParaRPr b="1" i="1" sz="24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roxima Nova"/>
              <a:buChar char="-"/>
            </a:pPr>
            <a:r>
              <a:rPr lang="es" sz="24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En este sprint el desarrollo fue llevado a cabo de una manera más coordinada entre los integrantes. Se corrigió el error de commits y desarrollo en una única branch.</a:t>
            </a:r>
            <a:endParaRPr sz="24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s" sz="24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Aspectos a Mejorar</a:t>
            </a:r>
            <a:endParaRPr b="1" i="1" sz="24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roxima Nova"/>
              <a:buChar char="+"/>
            </a:pPr>
            <a:r>
              <a:rPr lang="es" sz="24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Fue más </a:t>
            </a:r>
            <a:r>
              <a:rPr lang="es" sz="24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difícil</a:t>
            </a:r>
            <a:r>
              <a:rPr lang="es" sz="24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 dividirnos las historias de usuarios porque estamos todo rindiendo </a:t>
            </a:r>
            <a:r>
              <a:rPr lang="es" sz="24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exámenes</a:t>
            </a:r>
            <a:r>
              <a:rPr lang="es" sz="24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 de tras materias.</a:t>
            </a:r>
            <a:endParaRPr sz="24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60" name="Google Shape;160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" sz="3020"/>
              <a:t>Sprint 3 - Retro</a:t>
            </a:r>
            <a:endParaRPr b="1" sz="302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8"/>
          <p:cNvSpPr txBox="1"/>
          <p:nvPr/>
        </p:nvSpPr>
        <p:spPr>
          <a:xfrm>
            <a:off x="190500" y="1438275"/>
            <a:ext cx="8248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66" name="Google Shape;166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" sz="3020"/>
              <a:t>Avance</a:t>
            </a:r>
            <a:endParaRPr b="1" sz="3020"/>
          </a:p>
        </p:txBody>
      </p:sp>
      <p:pic>
        <p:nvPicPr>
          <p:cNvPr id="167" name="Google Shape;167;p28" title="Gráfico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3025" y="1148292"/>
            <a:ext cx="5449574" cy="339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9"/>
          <p:cNvSpPr txBox="1"/>
          <p:nvPr>
            <p:ph type="title"/>
          </p:nvPr>
        </p:nvSpPr>
        <p:spPr>
          <a:xfrm>
            <a:off x="311700" y="1420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DEMO</a:t>
            </a:r>
            <a:endParaRPr b="1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0"/>
          <p:cNvSpPr txBox="1"/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Compromisos para Sprint 4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1"/>
          <p:cNvSpPr txBox="1"/>
          <p:nvPr/>
        </p:nvSpPr>
        <p:spPr>
          <a:xfrm>
            <a:off x="397584" y="333877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8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Historias de usuario</a:t>
            </a:r>
            <a:endParaRPr b="1" sz="28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3" name="Google Shape;183;p31"/>
          <p:cNvSpPr txBox="1"/>
          <p:nvPr/>
        </p:nvSpPr>
        <p:spPr>
          <a:xfrm>
            <a:off x="442677" y="1259250"/>
            <a:ext cx="7113300" cy="26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81875" lIns="81875" spcFirstLastPara="1" rIns="81875" wrap="square" tIns="8187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225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US 7.3 Canjear puntos por beneficios </a:t>
            </a:r>
            <a:r>
              <a:rPr lang="es" sz="225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(Premium)</a:t>
            </a:r>
            <a:endParaRPr sz="225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225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US 8.5 Guardar Itinerario de otro usuario</a:t>
            </a:r>
            <a:endParaRPr sz="225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225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US 7.5 Filtrar beneficios por puntos</a:t>
            </a:r>
            <a:endParaRPr sz="225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225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US 7.6 Acumular puntos por invitar </a:t>
            </a:r>
            <a:r>
              <a:rPr lang="es" sz="225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vía</a:t>
            </a:r>
            <a:r>
              <a:rPr lang="es" sz="225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 mail</a:t>
            </a:r>
            <a:endParaRPr sz="225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5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4" name="Google Shape;184;p31"/>
          <p:cNvSpPr txBox="1"/>
          <p:nvPr/>
        </p:nvSpPr>
        <p:spPr>
          <a:xfrm>
            <a:off x="7222494" y="1366137"/>
            <a:ext cx="1071900" cy="3546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77200" lIns="77200" spcFirstLastPara="1" rIns="77200" wrap="square" tIns="772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90">
                <a:latin typeface="Proxima Nova"/>
                <a:ea typeface="Proxima Nova"/>
                <a:cs typeface="Proxima Nova"/>
                <a:sym typeface="Proxima Nova"/>
              </a:rPr>
              <a:t>5 SP</a:t>
            </a:r>
            <a:endParaRPr b="1" sz="129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5" name="Google Shape;185;p31"/>
          <p:cNvSpPr txBox="1"/>
          <p:nvPr/>
        </p:nvSpPr>
        <p:spPr>
          <a:xfrm>
            <a:off x="7222666" y="1754513"/>
            <a:ext cx="1071900" cy="3546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77200" lIns="77200" spcFirstLastPara="1" rIns="77200" wrap="square" tIns="772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90">
                <a:latin typeface="Proxima Nova"/>
                <a:ea typeface="Proxima Nova"/>
                <a:cs typeface="Proxima Nova"/>
                <a:sym typeface="Proxima Nova"/>
              </a:rPr>
              <a:t>5</a:t>
            </a:r>
            <a:r>
              <a:rPr b="1" lang="es" sz="1290">
                <a:latin typeface="Proxima Nova"/>
                <a:ea typeface="Proxima Nova"/>
                <a:cs typeface="Proxima Nova"/>
                <a:sym typeface="Proxima Nova"/>
              </a:rPr>
              <a:t> SP</a:t>
            </a:r>
            <a:endParaRPr b="1" sz="129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6" name="Google Shape;186;p31"/>
          <p:cNvSpPr txBox="1"/>
          <p:nvPr/>
        </p:nvSpPr>
        <p:spPr>
          <a:xfrm>
            <a:off x="7222494" y="2144178"/>
            <a:ext cx="1071900" cy="3546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77200" lIns="77200" spcFirstLastPara="1" rIns="77200" wrap="square" tIns="772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90">
                <a:latin typeface="Proxima Nova"/>
                <a:ea typeface="Proxima Nova"/>
                <a:cs typeface="Proxima Nova"/>
                <a:sym typeface="Proxima Nova"/>
              </a:rPr>
              <a:t>5</a:t>
            </a:r>
            <a:r>
              <a:rPr b="1" lang="es" sz="1290">
                <a:latin typeface="Proxima Nova"/>
                <a:ea typeface="Proxima Nova"/>
                <a:cs typeface="Proxima Nova"/>
                <a:sym typeface="Proxima Nova"/>
              </a:rPr>
              <a:t> SP</a:t>
            </a:r>
            <a:endParaRPr b="1" sz="129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7" name="Google Shape;187;p31"/>
          <p:cNvSpPr txBox="1"/>
          <p:nvPr/>
        </p:nvSpPr>
        <p:spPr>
          <a:xfrm>
            <a:off x="7222671" y="2541984"/>
            <a:ext cx="1071300" cy="3546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77175" lIns="77175" spcFirstLastPara="1" rIns="77175" wrap="square" tIns="771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90">
                <a:latin typeface="Proxima Nova"/>
                <a:ea typeface="Proxima Nova"/>
                <a:cs typeface="Proxima Nova"/>
                <a:sym typeface="Proxima Nova"/>
              </a:rPr>
              <a:t>5 SP</a:t>
            </a:r>
            <a:endParaRPr b="1" sz="129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8" name="Google Shape;188;p31"/>
          <p:cNvSpPr txBox="1"/>
          <p:nvPr/>
        </p:nvSpPr>
        <p:spPr>
          <a:xfrm>
            <a:off x="416676" y="4009125"/>
            <a:ext cx="2894400" cy="6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1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Velocity Total:</a:t>
            </a:r>
            <a:endParaRPr sz="2100">
              <a:solidFill>
                <a:srgbClr val="61616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9" name="Google Shape;189;p31"/>
          <p:cNvSpPr txBox="1"/>
          <p:nvPr/>
        </p:nvSpPr>
        <p:spPr>
          <a:xfrm>
            <a:off x="3240910" y="4070775"/>
            <a:ext cx="1074300" cy="538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300">
                <a:latin typeface="Proxima Nova"/>
                <a:ea typeface="Proxima Nova"/>
                <a:cs typeface="Proxima Nova"/>
                <a:sym typeface="Proxima Nova"/>
              </a:rPr>
              <a:t>20</a:t>
            </a:r>
            <a:r>
              <a:rPr b="1" lang="es" sz="2300">
                <a:latin typeface="Proxima Nova"/>
                <a:ea typeface="Proxima Nova"/>
                <a:cs typeface="Proxima Nova"/>
                <a:sym typeface="Proxima Nova"/>
              </a:rPr>
              <a:t> SP</a:t>
            </a:r>
            <a:endParaRPr b="1" sz="2300"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pearmint">
  <a:themeElements>
    <a:clrScheme name="Spearmint">
      <a:dk1>
        <a:srgbClr val="202729"/>
      </a:dk1>
      <a:lt1>
        <a:srgbClr val="FFFFFF"/>
      </a:lt1>
      <a:dk2>
        <a:srgbClr val="4BA173"/>
      </a:dk2>
      <a:lt2>
        <a:srgbClr val="63D297"/>
      </a:lt2>
      <a:accent1>
        <a:srgbClr val="353744"/>
      </a:accent1>
      <a:accent2>
        <a:srgbClr val="424242"/>
      </a:accent2>
      <a:accent3>
        <a:srgbClr val="616161"/>
      </a:accent3>
      <a:accent4>
        <a:srgbClr val="999999"/>
      </a:accent4>
      <a:accent5>
        <a:srgbClr val="FF5252"/>
      </a:accent5>
      <a:accent6>
        <a:srgbClr val="FFF176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