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Proxima Nova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roximaNova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italic.fntdata"/><Relationship Id="rId25" Type="http://schemas.openxmlformats.org/officeDocument/2006/relationships/font" Target="fonts/ProximaNova-bold.fntdata"/><Relationship Id="rId27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4febbd9f39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4febbd9f39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Duracion: 10 min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4febbd9f39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4febbd9f39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02d4881a4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02d4881a4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4febbd9f39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14febbd9f39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56d2e00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56d2e00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56d2e009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56d2e009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9b8ecd25c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9b8ecd25c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002c209b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002c209b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b8ecd25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b8ecd25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f3beb2b3c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1f3beb2b3c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c181aeb76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c181aeb76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19c769c4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a19c769c4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002c209bb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a002c209bb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</a:rPr>
              <a:t>Corresponde a la solapa </a:t>
            </a:r>
            <a:r>
              <a:rPr b="1" lang="es" sz="12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Sprint N</a:t>
            </a:r>
            <a:r>
              <a:rPr b="1" lang="es" sz="900">
                <a:solidFill>
                  <a:schemeClr val="dk1"/>
                </a:solidFill>
              </a:rPr>
              <a:t> </a:t>
            </a:r>
            <a:r>
              <a:rPr lang="es">
                <a:solidFill>
                  <a:schemeClr val="dk1"/>
                </a:solidFill>
              </a:rPr>
              <a:t>de la planilla de artefactos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a187941de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a187941de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Corresponde a la solapa </a:t>
            </a:r>
            <a:r>
              <a:rPr b="1" lang="es"/>
              <a:t>avance</a:t>
            </a:r>
            <a:r>
              <a:rPr lang="es"/>
              <a:t> de la planilla de artefactos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d66e5b018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d66e5b018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4febbd9f39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4febbd9f39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4febbd9f39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4febbd9f39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GRUPO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CIERRE SPRINT 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User Stories Planificadas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15154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Historias de usuario</a:t>
            </a:r>
            <a:endParaRPr b="1"/>
          </a:p>
        </p:txBody>
      </p:sp>
      <p:sp>
        <p:nvSpPr>
          <p:cNvPr id="70" name="Google Shape;70;p15"/>
          <p:cNvSpPr txBox="1"/>
          <p:nvPr/>
        </p:nvSpPr>
        <p:spPr>
          <a:xfrm>
            <a:off x="311700" y="4009125"/>
            <a:ext cx="34488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Velocity Total:</a:t>
            </a:r>
            <a:endParaRPr sz="300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676950" y="4070775"/>
            <a:ext cx="1280100" cy="6771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200">
                <a:latin typeface="Proxima Nova"/>
                <a:ea typeface="Proxima Nova"/>
                <a:cs typeface="Proxima Nova"/>
                <a:sym typeface="Proxima Nova"/>
              </a:rPr>
              <a:t>55 </a:t>
            </a:r>
            <a:r>
              <a:rPr b="1" lang="es" sz="3200">
                <a:latin typeface="Proxima Nova"/>
                <a:ea typeface="Proxima Nova"/>
                <a:cs typeface="Proxima Nova"/>
                <a:sym typeface="Proxima Nova"/>
              </a:rPr>
              <a:t>SP</a:t>
            </a:r>
            <a:endParaRPr b="1" sz="3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50175" y="744725"/>
            <a:ext cx="5143200" cy="31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81875" lIns="81875" spcFirstLastPara="1" rIns="81875" wrap="square" tIns="8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</a:t>
            </a:r>
            <a:r>
              <a:rPr lang="es" sz="18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4.9 Compartir itinerario (Premium)</a:t>
            </a:r>
            <a:endParaRPr sz="18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5.8 Me gusta en reseñas (Premium)</a:t>
            </a:r>
            <a:endParaRPr sz="18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5.9 Comentar una reseña</a:t>
            </a:r>
            <a:endParaRPr sz="18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5.10 Reportar una reseña</a:t>
            </a:r>
            <a:endParaRPr sz="18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6.1 Cargar gastos del viaje</a:t>
            </a:r>
            <a:endParaRPr sz="18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6.2 Editar / Eliminar un gasto</a:t>
            </a:r>
            <a:endParaRPr sz="18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6.3 Vista de gastos por categoría</a:t>
            </a:r>
            <a:endParaRPr sz="18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6.4 Compartir planilla de gastos (Premium)</a:t>
            </a:r>
            <a:endParaRPr sz="18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6.5 Invitar por mail a la planilla (Premium)</a:t>
            </a:r>
            <a:endParaRPr sz="18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6.6 Cálculo de saldos por integrante</a:t>
            </a:r>
            <a:endParaRPr sz="18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6.7 Exportar presupuesto</a:t>
            </a:r>
            <a:endParaRPr sz="18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6285995" y="1043348"/>
            <a:ext cx="939300" cy="275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7675" lIns="67675" spcFirstLastPara="1" rIns="67675" wrap="square" tIns="67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6286146" y="1331097"/>
            <a:ext cx="939300" cy="275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7675" lIns="67675" spcFirstLastPara="1" rIns="67675" wrap="square" tIns="67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6285995" y="1623431"/>
            <a:ext cx="939300" cy="275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7675" lIns="67675" spcFirstLastPara="1" rIns="67675" wrap="square" tIns="67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6286151" y="1915754"/>
            <a:ext cx="939000" cy="275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7650" lIns="67650" spcFirstLastPara="1" rIns="67650" wrap="square" tIns="67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Proxima Nova"/>
                <a:ea typeface="Proxima Nova"/>
                <a:cs typeface="Proxima Nova"/>
                <a:sym typeface="Proxima Nova"/>
              </a:rPr>
              <a:t>8 SP</a:t>
            </a:r>
            <a:endParaRPr b="1"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6286146" y="2204702"/>
            <a:ext cx="939000" cy="275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7650" lIns="67650" spcFirstLastPara="1" rIns="67650" wrap="square" tIns="67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Proxima Nova"/>
                <a:ea typeface="Proxima Nova"/>
                <a:cs typeface="Proxima Nova"/>
                <a:sym typeface="Proxima Nova"/>
              </a:rPr>
              <a:t>3 SP</a:t>
            </a:r>
            <a:endParaRPr b="1"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6285693" y="753226"/>
            <a:ext cx="939300" cy="275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7675" lIns="67675" spcFirstLastPara="1" rIns="67675" wrap="square" tIns="67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Proxima Nova"/>
                <a:ea typeface="Proxima Nova"/>
                <a:cs typeface="Proxima Nova"/>
                <a:sym typeface="Proxima Nova"/>
              </a:rPr>
              <a:t>8 SP</a:t>
            </a:r>
            <a:endParaRPr b="1"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6286324" y="2783798"/>
            <a:ext cx="939000" cy="275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7650" lIns="67650" spcFirstLastPara="1" rIns="67650" wrap="square" tIns="67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6286152" y="3068762"/>
            <a:ext cx="939000" cy="275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7650" lIns="67650" spcFirstLastPara="1" rIns="67650" wrap="square" tIns="67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286328" y="3357528"/>
            <a:ext cx="939000" cy="275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7650" lIns="67650" spcFirstLastPara="1" rIns="67650" wrap="square" tIns="67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Proxima Nova"/>
                <a:ea typeface="Proxima Nova"/>
                <a:cs typeface="Proxima Nova"/>
                <a:sym typeface="Proxima Nova"/>
              </a:rPr>
              <a:t>3 SP</a:t>
            </a:r>
            <a:endParaRPr b="1"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6286155" y="3646277"/>
            <a:ext cx="939000" cy="275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7650" lIns="67650" spcFirstLastPara="1" rIns="67650" wrap="square" tIns="67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Proxima Nova"/>
                <a:ea typeface="Proxima Nova"/>
                <a:cs typeface="Proxima Nova"/>
                <a:sym typeface="Proxima Nova"/>
              </a:rPr>
              <a:t>3 SP</a:t>
            </a:r>
            <a:endParaRPr b="1"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6286148" y="2491384"/>
            <a:ext cx="939000" cy="275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67650" lIns="67650" spcFirstLastPara="1" rIns="67650" wrap="square" tIns="67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Proxima Nova"/>
                <a:ea typeface="Proxima Nova"/>
                <a:cs typeface="Proxima Nova"/>
                <a:sym typeface="Proxima Nova"/>
              </a:rPr>
              <a:t>5 SP</a:t>
            </a:r>
            <a:endParaRPr b="1"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7287693" y="1043065"/>
            <a:ext cx="939300" cy="2751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67675" lIns="67675" spcFirstLastPara="1" rIns="67675" wrap="square" tIns="67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Proxima Nova"/>
                <a:ea typeface="Proxima Nova"/>
                <a:cs typeface="Proxima Nova"/>
                <a:sym typeface="Proxima Nova"/>
              </a:rPr>
              <a:t>Completado</a:t>
            </a:r>
            <a:endParaRPr b="1"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7287844" y="1330815"/>
            <a:ext cx="939300" cy="2751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67675" lIns="67675" spcFirstLastPara="1" rIns="67675" wrap="square" tIns="676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Proxima Nova"/>
                <a:ea typeface="Proxima Nova"/>
                <a:cs typeface="Proxima Nova"/>
                <a:sym typeface="Proxima Nova"/>
              </a:rPr>
              <a:t>Completado</a:t>
            </a:r>
            <a:endParaRPr b="1"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7287693" y="1623148"/>
            <a:ext cx="939300" cy="2751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67675" lIns="67675" spcFirstLastPara="1" rIns="67675" wrap="square" tIns="67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Proxima Nova"/>
                <a:ea typeface="Proxima Nova"/>
                <a:cs typeface="Proxima Nova"/>
                <a:sym typeface="Proxima Nova"/>
              </a:rPr>
              <a:t>Completado</a:t>
            </a:r>
            <a:endParaRPr b="1"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7287848" y="1915472"/>
            <a:ext cx="939000" cy="2751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67650" lIns="67650" spcFirstLastPara="1" rIns="67650" wrap="square" tIns="676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Proxima Nova"/>
                <a:ea typeface="Proxima Nova"/>
                <a:cs typeface="Proxima Nova"/>
                <a:sym typeface="Proxima Nova"/>
              </a:rPr>
              <a:t>Completado</a:t>
            </a:r>
            <a:endParaRPr b="1"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7287844" y="2204419"/>
            <a:ext cx="939000" cy="2751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67650" lIns="67650" spcFirstLastPara="1" rIns="67650" wrap="square" tIns="67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Proxima Nova"/>
                <a:ea typeface="Proxima Nova"/>
                <a:cs typeface="Proxima Nova"/>
                <a:sym typeface="Proxima Nova"/>
              </a:rPr>
              <a:t>Completado</a:t>
            </a:r>
            <a:endParaRPr b="1"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7287391" y="752943"/>
            <a:ext cx="939300" cy="2751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67675" lIns="67675" spcFirstLastPara="1" rIns="67675" wrap="square" tIns="67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Proxima Nova"/>
                <a:ea typeface="Proxima Nova"/>
                <a:cs typeface="Proxima Nova"/>
                <a:sym typeface="Proxima Nova"/>
              </a:rPr>
              <a:t>Completado</a:t>
            </a:r>
            <a:endParaRPr b="1"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7288022" y="2783515"/>
            <a:ext cx="939000" cy="2751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67650" lIns="67650" spcFirstLastPara="1" rIns="67650" wrap="square" tIns="67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Proxima Nova"/>
                <a:ea typeface="Proxima Nova"/>
                <a:cs typeface="Proxima Nova"/>
                <a:sym typeface="Proxima Nova"/>
              </a:rPr>
              <a:t>Completado</a:t>
            </a:r>
            <a:endParaRPr b="1"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7287850" y="3068480"/>
            <a:ext cx="939000" cy="2751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67650" lIns="67650" spcFirstLastPara="1" rIns="67650" wrap="square" tIns="67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Proxima Nova"/>
                <a:ea typeface="Proxima Nova"/>
                <a:cs typeface="Proxima Nova"/>
                <a:sym typeface="Proxima Nova"/>
              </a:rPr>
              <a:t>Completado</a:t>
            </a:r>
            <a:endParaRPr b="1"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2" name="Google Shape;92;p15"/>
          <p:cNvSpPr txBox="1"/>
          <p:nvPr/>
        </p:nvSpPr>
        <p:spPr>
          <a:xfrm>
            <a:off x="7288026" y="3357246"/>
            <a:ext cx="939000" cy="2751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67650" lIns="67650" spcFirstLastPara="1" rIns="67650" wrap="square" tIns="67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Proxima Nova"/>
                <a:ea typeface="Proxima Nova"/>
                <a:cs typeface="Proxima Nova"/>
                <a:sym typeface="Proxima Nova"/>
              </a:rPr>
              <a:t>Completado</a:t>
            </a:r>
            <a:endParaRPr b="1"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3" name="Google Shape;93;p15"/>
          <p:cNvSpPr txBox="1"/>
          <p:nvPr/>
        </p:nvSpPr>
        <p:spPr>
          <a:xfrm>
            <a:off x="7287853" y="3645994"/>
            <a:ext cx="939000" cy="2751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67650" lIns="67650" spcFirstLastPara="1" rIns="67650" wrap="square" tIns="67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Proxima Nova"/>
                <a:ea typeface="Proxima Nova"/>
                <a:cs typeface="Proxima Nova"/>
                <a:sym typeface="Proxima Nova"/>
              </a:rPr>
              <a:t>Completado</a:t>
            </a:r>
            <a:endParaRPr b="1"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7287846" y="2491101"/>
            <a:ext cx="939000" cy="275100"/>
          </a:xfrm>
          <a:prstGeom prst="rect">
            <a:avLst/>
          </a:prstGeom>
          <a:solidFill>
            <a:srgbClr val="63D297"/>
          </a:solidFill>
          <a:ln>
            <a:noFill/>
          </a:ln>
        </p:spPr>
        <p:txBody>
          <a:bodyPr anchorCtr="0" anchor="t" bIns="67650" lIns="67650" spcFirstLastPara="1" rIns="67650" wrap="square" tIns="676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latin typeface="Proxima Nova"/>
                <a:ea typeface="Proxima Nova"/>
                <a:cs typeface="Proxima Nova"/>
                <a:sym typeface="Proxima Nova"/>
              </a:rPr>
              <a:t>Completado</a:t>
            </a:r>
            <a:endParaRPr b="1"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/>
        </p:nvSpPr>
        <p:spPr>
          <a:xfrm>
            <a:off x="1470850" y="4091800"/>
            <a:ext cx="21039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Velocity actual: 55 SP</a:t>
            </a:r>
            <a:endParaRPr b="1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0" name="Google Shape;10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Métricas</a:t>
            </a:r>
            <a:endParaRPr b="1" sz="3020"/>
          </a:p>
        </p:txBody>
      </p:sp>
      <p:pic>
        <p:nvPicPr>
          <p:cNvPr id="101" name="Google Shape;101;p16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6025" y="1127613"/>
            <a:ext cx="4360026" cy="2692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4311225" cy="2675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Métricas</a:t>
            </a:r>
            <a:endParaRPr b="1" sz="3020"/>
          </a:p>
        </p:txBody>
      </p:sp>
      <p:pic>
        <p:nvPicPr>
          <p:cNvPr id="108" name="Google Shape;108;p17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378" y="1559892"/>
            <a:ext cx="4262150" cy="2240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7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3475" y="1513525"/>
            <a:ext cx="4350315" cy="2287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Uso de IA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/>
        </p:nvSpPr>
        <p:spPr>
          <a:xfrm>
            <a:off x="311700" y="1322100"/>
            <a:ext cx="8731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Char char="-"/>
            </a:pP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Herramienta utilizada: ChatGPT, Gemini y Copilot</a:t>
            </a:r>
            <a:endParaRPr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Char char="-"/>
            </a:pPr>
            <a:r>
              <a:rPr lang="es"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Versiones e iteraciones: Se le envió contexto con código ya hecho con el fin de generar código nuevo. Se utilizó también para resolución de errores. </a:t>
            </a:r>
            <a:endParaRPr sz="19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</a:t>
            </a:r>
            <a:endParaRPr b="1" sz="30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 - Ejemplos</a:t>
            </a:r>
            <a:endParaRPr b="1" sz="3020"/>
          </a:p>
        </p:txBody>
      </p:sp>
      <p:pic>
        <p:nvPicPr>
          <p:cNvPr id="126" name="Google Shape;1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575" y="1138075"/>
            <a:ext cx="3920200" cy="130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837550"/>
            <a:ext cx="4248676" cy="184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09200" y="445025"/>
            <a:ext cx="3470466" cy="454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 - Ejemplos</a:t>
            </a:r>
            <a:endParaRPr b="1" sz="3020"/>
          </a:p>
        </p:txBody>
      </p:sp>
      <p:pic>
        <p:nvPicPr>
          <p:cNvPr id="134" name="Google Shape;1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7454" y="244012"/>
            <a:ext cx="3231000" cy="465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1"/>
          <p:cNvPicPr preferRelativeResize="0"/>
          <p:nvPr/>
        </p:nvPicPr>
        <p:blipFill rotWithShape="1">
          <a:blip r:embed="rId4">
            <a:alphaModFix/>
          </a:blip>
          <a:srcRect b="0" l="0" r="13081" t="0"/>
          <a:stretch/>
        </p:blipFill>
        <p:spPr>
          <a:xfrm>
            <a:off x="693407" y="1146300"/>
            <a:ext cx="3969774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/>
          <p:nvPr/>
        </p:nvSpPr>
        <p:spPr>
          <a:xfrm>
            <a:off x="311700" y="1322100"/>
            <a:ext cx="87318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roxima Nova"/>
              <a:buChar char="●"/>
            </a:pP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Acelera el diseño y la codificación y el debugging.</a:t>
            </a:r>
            <a:endParaRPr sz="2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roxima Nova"/>
              <a:buChar char="●"/>
            </a:pP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Permitió optimizar la lógica de recomendación y filtrado, evitando errores manuales.</a:t>
            </a:r>
            <a:endParaRPr sz="2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roxima Nova"/>
              <a:buChar char="●"/>
            </a:pP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Facilitó la depuración y refactorización del proyecto.</a:t>
            </a:r>
            <a:endParaRPr sz="2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roxima Nova"/>
              <a:buChar char="●"/>
            </a:pPr>
            <a:r>
              <a:rPr lang="es" sz="2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Ayudó a mantener consistencia entre backend y frontend, generando estructuras de datos y endpoints más claros.</a:t>
            </a:r>
            <a:endParaRPr sz="2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1" name="Google Shape;14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Uso de IA - Justificación de Resultado Final</a:t>
            </a:r>
            <a:endParaRPr b="1" sz="30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Retro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/>
        </p:nvSpPr>
        <p:spPr>
          <a:xfrm>
            <a:off x="311700" y="1193900"/>
            <a:ext cx="8382000" cy="39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Cambios en los riesgos principales frente a las acciones de mitigación y al avance del proyecto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Desconocimiento de herramientas en integración con IA</a:t>
            </a:r>
            <a:endParaRPr b="1"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-"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Estado: </a:t>
            </a:r>
            <a:r>
              <a:rPr b="1" lang="es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cerrado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-"/>
            </a:pPr>
            <a:r>
              <a:rPr lang="es" sz="1800">
                <a:latin typeface="Proxima Nova"/>
                <a:ea typeface="Proxima Nova"/>
                <a:cs typeface="Proxima Nova"/>
                <a:sym typeface="Proxima Nova"/>
              </a:rPr>
              <a:t>Detalle: Se completó la implementación de la IA. El desconocimiento ya no es un riesgo.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Baja de un integrante</a:t>
            </a:r>
            <a:endParaRPr b="1"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-"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Estado: </a:t>
            </a:r>
            <a:r>
              <a:rPr b="1" lang="es" sz="1800">
                <a:solidFill>
                  <a:srgbClr val="E69138"/>
                </a:solidFill>
                <a:latin typeface="Proxima Nova"/>
                <a:ea typeface="Proxima Nova"/>
                <a:cs typeface="Proxima Nova"/>
                <a:sym typeface="Proxima Nova"/>
              </a:rPr>
              <a:t>abierto - en monitoreo</a:t>
            </a:r>
            <a:endParaRPr sz="1800">
              <a:solidFill>
                <a:srgbClr val="E69138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-"/>
            </a:pPr>
            <a:r>
              <a:rPr lang="es" sz="1800">
                <a:latin typeface="Proxima Nova"/>
                <a:ea typeface="Proxima Nova"/>
                <a:cs typeface="Proxima Nova"/>
                <a:sym typeface="Proxima Nova"/>
              </a:rPr>
              <a:t>Detalle: El riesgo no se materializó. Se mantienen las mitigaciones (pair programming, sprint reviews) para reducir el impacto si ocurriera.</a:t>
            </a:r>
            <a:endParaRPr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2" name="Google Shape;15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Sprint 4 - Evolución de Riesgos</a:t>
            </a:r>
            <a:endParaRPr b="1" sz="302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/>
        </p:nvSpPr>
        <p:spPr>
          <a:xfrm>
            <a:off x="311700" y="1193900"/>
            <a:ext cx="8382000" cy="3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Cambios en los riesgos principales frente a las acciones de mitigación y al avance del proyecto</a:t>
            </a:r>
            <a:endParaRPr sz="2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Dependencia de terceros (APIs, cuotas y costos)</a:t>
            </a:r>
            <a:endParaRPr b="1"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-"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Estado: </a:t>
            </a:r>
            <a:r>
              <a:rPr b="1" lang="es" sz="1800">
                <a:solidFill>
                  <a:srgbClr val="F1C232"/>
                </a:solidFill>
                <a:latin typeface="Proxima Nova"/>
                <a:ea typeface="Proxima Nova"/>
                <a:cs typeface="Proxima Nova"/>
                <a:sym typeface="Proxima Nova"/>
              </a:rPr>
              <a:t>reducido</a:t>
            </a:r>
            <a:endParaRPr sz="1800">
              <a:solidFill>
                <a:srgbClr val="F1C232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-"/>
            </a:pPr>
            <a:r>
              <a:rPr lang="es" sz="1800">
                <a:latin typeface="Proxima Nova"/>
                <a:ea typeface="Proxima Nova"/>
                <a:cs typeface="Proxima Nova"/>
                <a:sym typeface="Proxima Nova"/>
              </a:rPr>
              <a:t>Detalle: El monitoreo de APIs (mitigación) no reportó incidentes y el consumo se mantiene estable. Reducimos la probabilidad percibida.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Caída de sistemas de terceros</a:t>
            </a:r>
            <a:endParaRPr b="1" sz="2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roxima Nova"/>
              <a:buChar char="-"/>
            </a:pPr>
            <a:r>
              <a:rPr lang="es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Estado: </a:t>
            </a:r>
            <a:r>
              <a:rPr b="1" lang="es" sz="1800">
                <a:solidFill>
                  <a:srgbClr val="E69138"/>
                </a:solidFill>
                <a:latin typeface="Proxima Nova"/>
                <a:ea typeface="Proxima Nova"/>
                <a:cs typeface="Proxima Nova"/>
                <a:sym typeface="Proxima Nova"/>
              </a:rPr>
              <a:t>abierto - en monitoreo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-"/>
            </a:pPr>
            <a:r>
              <a:rPr lang="es" sz="1800">
                <a:latin typeface="Proxima Nova"/>
                <a:ea typeface="Proxima Nova"/>
                <a:cs typeface="Proxima Nova"/>
                <a:sym typeface="Proxima Nova"/>
              </a:rPr>
              <a:t>Detalle: Sin cambios. Es un riesgo externo que no podemos controlar. Mantenemos el monitoreo y el plan de contingencia.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8" name="Google Shape;15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Sprint 4 - Evolución de Riesgos</a:t>
            </a:r>
            <a:endParaRPr b="1" sz="302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/>
        </p:nvSpPr>
        <p:spPr>
          <a:xfrm>
            <a:off x="311700" y="1193900"/>
            <a:ext cx="83820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Aspectos Positivos</a:t>
            </a:r>
            <a:endParaRPr b="1" i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-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En este sprint el desarrollo fue llevado a cabo de una manera más coordinada entre los integrantes. Se corrigió el error de commits y desarrollo en una única branch.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Aspectos a Mejorar</a:t>
            </a:r>
            <a:endParaRPr b="1" i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+"/>
            </a:pPr>
            <a:r>
              <a:rPr lang="e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Debemos continuar trabajando la comunicación para dar aviso de actualizaciones en el desarrollo de forma bien clara.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4" name="Google Shape;16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Sprint 4 - Retro</a:t>
            </a:r>
            <a:endParaRPr b="1" sz="302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/>
        </p:nvSpPr>
        <p:spPr>
          <a:xfrm>
            <a:off x="190500" y="1438275"/>
            <a:ext cx="8248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0" name="Google Shape;17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20"/>
              <a:t>Avance</a:t>
            </a:r>
            <a:endParaRPr b="1" sz="3020"/>
          </a:p>
        </p:txBody>
      </p:sp>
      <p:pic>
        <p:nvPicPr>
          <p:cNvPr id="171" name="Google Shape;171;p27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3188" y="1105701"/>
            <a:ext cx="6057625" cy="377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311700" y="142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DEMO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Compromisos para Sprint 4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/>
        </p:nvSpPr>
        <p:spPr>
          <a:xfrm>
            <a:off x="397584" y="33387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Historias de usuario</a:t>
            </a:r>
            <a:endParaRPr b="1" sz="2800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7" name="Google Shape;187;p30"/>
          <p:cNvSpPr txBox="1"/>
          <p:nvPr/>
        </p:nvSpPr>
        <p:spPr>
          <a:xfrm>
            <a:off x="693591" y="1353349"/>
            <a:ext cx="6574800" cy="26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81875" lIns="81875" spcFirstLastPara="1" rIns="81875" wrap="square" tIns="8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8.1 Conexiones recomendadas por solicitud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8.2 Seguimiento al viajero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8.3 </a:t>
            </a: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Búsqueda</a:t>
            </a: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 manual de perfiles compatibles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8.4 Ver perfil del viajero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7.1 Acumular puntos por reseñas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7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US 7.2 Historial de puntos</a:t>
            </a:r>
            <a:endParaRPr sz="2307">
              <a:solidFill>
                <a:srgbClr val="20272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8" name="Google Shape;188;p30"/>
          <p:cNvSpPr txBox="1"/>
          <p:nvPr/>
        </p:nvSpPr>
        <p:spPr>
          <a:xfrm>
            <a:off x="7421133" y="1836580"/>
            <a:ext cx="987600" cy="326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1150" lIns="71150" spcFirstLastPara="1" rIns="71150" wrap="square" tIns="71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118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9" name="Google Shape;189;p30"/>
          <p:cNvSpPr txBox="1"/>
          <p:nvPr/>
        </p:nvSpPr>
        <p:spPr>
          <a:xfrm>
            <a:off x="7421292" y="2194508"/>
            <a:ext cx="987600" cy="326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1150" lIns="71150" spcFirstLastPara="1" rIns="71150" wrap="square" tIns="71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8</a:t>
            </a: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118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0" name="Google Shape;190;p30"/>
          <p:cNvSpPr txBox="1"/>
          <p:nvPr/>
        </p:nvSpPr>
        <p:spPr>
          <a:xfrm>
            <a:off x="7421133" y="2572893"/>
            <a:ext cx="987600" cy="326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1150" lIns="71150" spcFirstLastPara="1" rIns="71150" wrap="square" tIns="71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118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1" name="Google Shape;191;p30"/>
          <p:cNvSpPr txBox="1"/>
          <p:nvPr/>
        </p:nvSpPr>
        <p:spPr>
          <a:xfrm>
            <a:off x="7421297" y="2939512"/>
            <a:ext cx="987300" cy="326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1125" lIns="71125" spcFirstLastPara="1" rIns="71125" wrap="square" tIns="71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118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2" name="Google Shape;192;p30"/>
          <p:cNvSpPr txBox="1"/>
          <p:nvPr/>
        </p:nvSpPr>
        <p:spPr>
          <a:xfrm>
            <a:off x="7421292" y="3310288"/>
            <a:ext cx="987300" cy="326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1125" lIns="71125" spcFirstLastPara="1" rIns="71125" wrap="square" tIns="711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118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3" name="Google Shape;193;p30"/>
          <p:cNvSpPr txBox="1"/>
          <p:nvPr/>
        </p:nvSpPr>
        <p:spPr>
          <a:xfrm>
            <a:off x="7421292" y="1476759"/>
            <a:ext cx="987600" cy="326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71150" lIns="71150" spcFirstLastPara="1" rIns="71150" wrap="square" tIns="711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8</a:t>
            </a:r>
            <a:r>
              <a:rPr b="1" lang="es" sz="1189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1189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4" name="Google Shape;194;p30"/>
          <p:cNvSpPr txBox="1"/>
          <p:nvPr/>
        </p:nvSpPr>
        <p:spPr>
          <a:xfrm>
            <a:off x="416669" y="4009125"/>
            <a:ext cx="25932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900">
                <a:solidFill>
                  <a:srgbClr val="202729"/>
                </a:solidFill>
                <a:latin typeface="Proxima Nova"/>
                <a:ea typeface="Proxima Nova"/>
                <a:cs typeface="Proxima Nova"/>
                <a:sym typeface="Proxima Nova"/>
              </a:rPr>
              <a:t>Velocity Total:</a:t>
            </a:r>
            <a:endParaRPr sz="1900">
              <a:solidFill>
                <a:srgbClr val="61616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5" name="Google Shape;195;p30"/>
          <p:cNvSpPr txBox="1"/>
          <p:nvPr/>
        </p:nvSpPr>
        <p:spPr>
          <a:xfrm>
            <a:off x="2946926" y="4070775"/>
            <a:ext cx="962400" cy="5079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100">
                <a:latin typeface="Proxima Nova"/>
                <a:ea typeface="Proxima Nova"/>
                <a:cs typeface="Proxima Nova"/>
                <a:sym typeface="Proxima Nova"/>
              </a:rPr>
              <a:t>37</a:t>
            </a:r>
            <a:r>
              <a:rPr b="1" lang="es" sz="2100">
                <a:latin typeface="Proxima Nova"/>
                <a:ea typeface="Proxima Nova"/>
                <a:cs typeface="Proxima Nova"/>
                <a:sym typeface="Proxima Nova"/>
              </a:rPr>
              <a:t> SP</a:t>
            </a:r>
            <a:endParaRPr b="1" sz="21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