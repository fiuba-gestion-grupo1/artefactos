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embeddedFontLst>
    <p:embeddedFont>
      <p:font typeface="Proxima Nova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font" Target="fonts/ProximaNova-bold.fntdata"/><Relationship Id="rId10" Type="http://schemas.openxmlformats.org/officeDocument/2006/relationships/slide" Target="slides/slide5.xml"/><Relationship Id="rId21" Type="http://schemas.openxmlformats.org/officeDocument/2006/relationships/font" Target="fonts/ProximaNova-regular.fntdata"/><Relationship Id="rId13" Type="http://schemas.openxmlformats.org/officeDocument/2006/relationships/slide" Target="slides/slide8.xml"/><Relationship Id="rId24" Type="http://schemas.openxmlformats.org/officeDocument/2006/relationships/font" Target="fonts/ProximaNova-boldItalic.fntdata"/><Relationship Id="rId12" Type="http://schemas.openxmlformats.org/officeDocument/2006/relationships/slide" Target="slides/slide7.xml"/><Relationship Id="rId23" Type="http://schemas.openxmlformats.org/officeDocument/2006/relationships/font" Target="fonts/ProximaNova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14febbd9f39_0_2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14febbd9f39_0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Duracion: 10 min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a6abe7ed9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a6abe7ed9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202d4881a4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202d4881a4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14febbd9f39_0_2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14febbd9f39_0_2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656d2e009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656d2e009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656d2e009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656d2e009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a002c209b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a002c209b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9b8ecd25c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9b8ecd25c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1f3beb2b3c7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1f3beb2b3c7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2c181aeb76c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2c181aeb76c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701dfd60ee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701dfd60ee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a002c209bb_1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a002c209bb_1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</a:rPr>
              <a:t>Corresponde a la solapa </a:t>
            </a:r>
            <a:r>
              <a:rPr b="1" lang="es" sz="1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N</a:t>
            </a:r>
            <a:r>
              <a:rPr b="1" lang="es" sz="900">
                <a:solidFill>
                  <a:schemeClr val="dk1"/>
                </a:solidFill>
              </a:rPr>
              <a:t> </a:t>
            </a:r>
            <a:r>
              <a:rPr lang="es">
                <a:solidFill>
                  <a:schemeClr val="dk1"/>
                </a:solidFill>
              </a:rPr>
              <a:t>de la planilla de artefactos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a187941de6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a187941de6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Corresponde a la solapa </a:t>
            </a:r>
            <a:r>
              <a:rPr b="1" lang="es"/>
              <a:t>avance</a:t>
            </a:r>
            <a:r>
              <a:rPr lang="es"/>
              <a:t> de la planilla de artefactos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8d66e5b018_5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8d66e5b018_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" name="Google Shape;11;p2"/>
          <p:cNvSpPr txBox="1"/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Google Shape;15;p3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" name="Google Shape;16;p3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pearmin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GRUPO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CIERRE SPRINT 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User Stories Planificadas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/>
        </p:nvSpPr>
        <p:spPr>
          <a:xfrm>
            <a:off x="397584" y="333877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8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Historias de usuario</a:t>
            </a:r>
            <a:endParaRPr b="1" sz="28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442677" y="1259250"/>
            <a:ext cx="7113300" cy="26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81875" lIns="81875" spcFirstLastPara="1" rIns="81875" wrap="square" tIns="818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25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7.3 Canjear puntos por beneficios </a:t>
            </a:r>
            <a:r>
              <a:rPr lang="es" sz="225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(Premium)</a:t>
            </a:r>
            <a:endParaRPr sz="225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25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8.5 Guardar Itinerario de otro usuario</a:t>
            </a:r>
            <a:endParaRPr sz="225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25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7.5 Filtrar beneficios por puntos</a:t>
            </a:r>
            <a:endParaRPr sz="225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25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7.6 Acumular puntos por invitar vía mail</a:t>
            </a:r>
            <a:endParaRPr sz="225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25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US 10.1 Edición de itinerario</a:t>
            </a:r>
            <a:endParaRPr sz="225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5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6724124" y="1366137"/>
            <a:ext cx="1071900" cy="3546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7200" lIns="77200" spcFirstLastPara="1" rIns="77200" wrap="square" tIns="772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90">
                <a:latin typeface="Proxima Nova"/>
                <a:ea typeface="Proxima Nova"/>
                <a:cs typeface="Proxima Nova"/>
                <a:sym typeface="Proxima Nova"/>
              </a:rPr>
              <a:t>5 SP</a:t>
            </a:r>
            <a:endParaRPr b="1" sz="129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6724297" y="1754513"/>
            <a:ext cx="1071900" cy="3546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7200" lIns="77200" spcFirstLastPara="1" rIns="77200" wrap="square" tIns="772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90">
                <a:latin typeface="Proxima Nova"/>
                <a:ea typeface="Proxima Nova"/>
                <a:cs typeface="Proxima Nova"/>
                <a:sym typeface="Proxima Nova"/>
              </a:rPr>
              <a:t>5 SP</a:t>
            </a:r>
            <a:endParaRPr b="1" sz="129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6724124" y="2144178"/>
            <a:ext cx="1071900" cy="3546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7200" lIns="77200" spcFirstLastPara="1" rIns="77200" wrap="square" tIns="772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90">
                <a:latin typeface="Proxima Nova"/>
                <a:ea typeface="Proxima Nova"/>
                <a:cs typeface="Proxima Nova"/>
                <a:sym typeface="Proxima Nova"/>
              </a:rPr>
              <a:t>5 SP</a:t>
            </a:r>
            <a:endParaRPr b="1" sz="129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6724302" y="2541984"/>
            <a:ext cx="1071300" cy="3546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7175" lIns="77175" spcFirstLastPara="1" rIns="77175" wrap="square" tIns="771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90">
                <a:latin typeface="Proxima Nova"/>
                <a:ea typeface="Proxima Nova"/>
                <a:cs typeface="Proxima Nova"/>
                <a:sym typeface="Proxima Nova"/>
              </a:rPr>
              <a:t>5 SP</a:t>
            </a:r>
            <a:endParaRPr b="1" sz="129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416676" y="4009125"/>
            <a:ext cx="28944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Velocity Total:</a:t>
            </a:r>
            <a:endParaRPr sz="2100">
              <a:solidFill>
                <a:srgbClr val="61616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3240910" y="4070775"/>
            <a:ext cx="1074300" cy="538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300">
                <a:latin typeface="Proxima Nova"/>
                <a:ea typeface="Proxima Nova"/>
                <a:cs typeface="Proxima Nova"/>
                <a:sym typeface="Proxima Nova"/>
              </a:rPr>
              <a:t>23 SP</a:t>
            </a:r>
            <a:endParaRPr b="1" sz="23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7795596" y="1362016"/>
            <a:ext cx="987600" cy="326700"/>
          </a:xfrm>
          <a:prstGeom prst="rect">
            <a:avLst/>
          </a:prstGeom>
          <a:solidFill>
            <a:srgbClr val="4BA173"/>
          </a:solidFill>
          <a:ln>
            <a:noFill/>
          </a:ln>
        </p:spPr>
        <p:txBody>
          <a:bodyPr anchorCtr="0" anchor="t" bIns="71150" lIns="71150" spcFirstLastPara="1" rIns="71150" wrap="square" tIns="711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Completado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7795596" y="1769091"/>
            <a:ext cx="987600" cy="326700"/>
          </a:xfrm>
          <a:prstGeom prst="rect">
            <a:avLst/>
          </a:prstGeom>
          <a:solidFill>
            <a:srgbClr val="4BA173"/>
          </a:solidFill>
          <a:ln>
            <a:noFill/>
          </a:ln>
        </p:spPr>
        <p:txBody>
          <a:bodyPr anchorCtr="0" anchor="t" bIns="71150" lIns="71150" spcFirstLastPara="1" rIns="71150" wrap="square" tIns="711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Completado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7795596" y="2176166"/>
            <a:ext cx="987600" cy="326700"/>
          </a:xfrm>
          <a:prstGeom prst="rect">
            <a:avLst/>
          </a:prstGeom>
          <a:solidFill>
            <a:srgbClr val="4BA173"/>
          </a:solidFill>
          <a:ln>
            <a:noFill/>
          </a:ln>
        </p:spPr>
        <p:txBody>
          <a:bodyPr anchorCtr="0" anchor="t" bIns="71150" lIns="71150" spcFirstLastPara="1" rIns="71150" wrap="square" tIns="711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Completado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0" name="Google Shape;80;p15"/>
          <p:cNvSpPr txBox="1"/>
          <p:nvPr/>
        </p:nvSpPr>
        <p:spPr>
          <a:xfrm>
            <a:off x="7795596" y="2569916"/>
            <a:ext cx="987600" cy="326700"/>
          </a:xfrm>
          <a:prstGeom prst="rect">
            <a:avLst/>
          </a:prstGeom>
          <a:solidFill>
            <a:srgbClr val="4BA173"/>
          </a:solidFill>
          <a:ln>
            <a:noFill/>
          </a:ln>
        </p:spPr>
        <p:txBody>
          <a:bodyPr anchorCtr="0" anchor="t" bIns="71150" lIns="71150" spcFirstLastPara="1" rIns="71150" wrap="square" tIns="711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Completado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6724127" y="2963684"/>
            <a:ext cx="1071300" cy="3546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77175" lIns="77175" spcFirstLastPara="1" rIns="77175" wrap="square" tIns="771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90">
                <a:latin typeface="Proxima Nova"/>
                <a:ea typeface="Proxima Nova"/>
                <a:cs typeface="Proxima Nova"/>
                <a:sym typeface="Proxima Nova"/>
              </a:rPr>
              <a:t>3</a:t>
            </a:r>
            <a:r>
              <a:rPr b="1" lang="es" sz="1290">
                <a:latin typeface="Proxima Nova"/>
                <a:ea typeface="Proxima Nova"/>
                <a:cs typeface="Proxima Nova"/>
                <a:sym typeface="Proxima Nova"/>
              </a:rPr>
              <a:t> SP</a:t>
            </a:r>
            <a:endParaRPr b="1" sz="129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7795421" y="2991616"/>
            <a:ext cx="987600" cy="326700"/>
          </a:xfrm>
          <a:prstGeom prst="rect">
            <a:avLst/>
          </a:prstGeom>
          <a:solidFill>
            <a:srgbClr val="4BA173"/>
          </a:solidFill>
          <a:ln>
            <a:noFill/>
          </a:ln>
        </p:spPr>
        <p:txBody>
          <a:bodyPr anchorCtr="0" anchor="t" bIns="71150" lIns="71150" spcFirstLastPara="1" rIns="71150" wrap="square" tIns="711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189">
                <a:latin typeface="Proxima Nova"/>
                <a:ea typeface="Proxima Nova"/>
                <a:cs typeface="Proxima Nova"/>
                <a:sym typeface="Proxima Nova"/>
              </a:rPr>
              <a:t>Completado</a:t>
            </a:r>
            <a:endParaRPr b="1" sz="1189"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/>
          <p:nvPr/>
        </p:nvSpPr>
        <p:spPr>
          <a:xfrm>
            <a:off x="1470850" y="4091800"/>
            <a:ext cx="2103900" cy="4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Velocity actual: 37 SP</a:t>
            </a:r>
            <a:endParaRPr b="1"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88" name="Google Shape;88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Métricas</a:t>
            </a:r>
            <a:endParaRPr b="1" sz="3020"/>
          </a:p>
        </p:txBody>
      </p:sp>
      <p:pic>
        <p:nvPicPr>
          <p:cNvPr id="89" name="Google Shape;89;p16" title="Gráfico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475" y="1246813"/>
            <a:ext cx="4230549" cy="2580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6" title="Gráfico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83424" y="1170125"/>
            <a:ext cx="4408176" cy="27257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Métricas</a:t>
            </a:r>
            <a:endParaRPr b="1" sz="3020"/>
          </a:p>
        </p:txBody>
      </p:sp>
      <p:pic>
        <p:nvPicPr>
          <p:cNvPr id="96" name="Google Shape;96;p17" title="Gráfico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50088"/>
            <a:ext cx="4267200" cy="2243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7" title="Gráfico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1410025"/>
            <a:ext cx="4419600" cy="2323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Uso de IA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9"/>
          <p:cNvSpPr txBox="1"/>
          <p:nvPr/>
        </p:nvSpPr>
        <p:spPr>
          <a:xfrm>
            <a:off x="311700" y="1322100"/>
            <a:ext cx="87318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Char char="-"/>
            </a:pPr>
            <a:r>
              <a:rPr lang="es"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Herramienta utilizada: ChatGPT, Gemini y Copilot</a:t>
            </a:r>
            <a:endParaRPr sz="28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Char char="-"/>
            </a:pPr>
            <a:r>
              <a:rPr lang="es"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Versiones e iteraciones: Se le envió contexto con código ya hecho con el fin de generar código nuevo. Se utilizó también para resolución de errores. </a:t>
            </a:r>
            <a:endParaRPr sz="19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08" name="Google Shape;108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Uso de IA</a:t>
            </a:r>
            <a:endParaRPr b="1" sz="302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Uso de IA - Ejemplos</a:t>
            </a:r>
            <a:endParaRPr b="1" sz="3020"/>
          </a:p>
        </p:txBody>
      </p:sp>
      <p:pic>
        <p:nvPicPr>
          <p:cNvPr id="114" name="Google Shape;114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0813" y="1017725"/>
            <a:ext cx="3902381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1"/>
          <p:cNvSpPr txBox="1"/>
          <p:nvPr/>
        </p:nvSpPr>
        <p:spPr>
          <a:xfrm>
            <a:off x="311700" y="1322100"/>
            <a:ext cx="87318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roxima Nova"/>
              <a:buChar char="●"/>
            </a:pPr>
            <a:r>
              <a:rPr lang="es" sz="21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Acelera el diseño y la codificación y el debugging.</a:t>
            </a:r>
            <a:endParaRPr sz="21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roxima Nova"/>
              <a:buChar char="●"/>
            </a:pPr>
            <a:r>
              <a:rPr lang="es" sz="21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Permitió optimizar la lógica de recomendación y filtrado, evitando errores manuales.</a:t>
            </a:r>
            <a:endParaRPr sz="21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roxima Nova"/>
              <a:buChar char="●"/>
            </a:pPr>
            <a:r>
              <a:rPr lang="es" sz="21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Facilitó la depuración y refactorización del proyecto.</a:t>
            </a:r>
            <a:endParaRPr sz="21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roxima Nova"/>
              <a:buChar char="●"/>
            </a:pPr>
            <a:r>
              <a:rPr lang="es" sz="21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Ayudó a mantener consistencia entre backend y frontend, generando estructuras de datos y endpoints más claros.</a:t>
            </a:r>
            <a:endParaRPr sz="21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20" name="Google Shape;120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Uso de IA - Justificación de Resultado Final</a:t>
            </a:r>
            <a:endParaRPr b="1" sz="302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2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Retro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/>
        </p:nvSpPr>
        <p:spPr>
          <a:xfrm>
            <a:off x="311700" y="974360"/>
            <a:ext cx="8382000" cy="33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Cambios en los riesgos principales frente a las acciones de mitigación y al avance del proyecto</a:t>
            </a:r>
            <a:endParaRPr sz="22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s" sz="20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Desconocimiento de herramientas en integración con IA</a:t>
            </a:r>
            <a:endParaRPr b="1" sz="20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800"/>
              <a:buFont typeface="Proxima Nova"/>
              <a:buChar char="-"/>
            </a:pPr>
            <a:r>
              <a:rPr lang="es" sz="18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Estado: </a:t>
            </a:r>
            <a:r>
              <a:rPr b="1" lang="es" sz="1800">
                <a:solidFill>
                  <a:srgbClr val="4BA173"/>
                </a:solidFill>
                <a:latin typeface="Proxima Nova"/>
                <a:ea typeface="Proxima Nova"/>
                <a:cs typeface="Proxima Nova"/>
                <a:sym typeface="Proxima Nova"/>
              </a:rPr>
              <a:t>cerrado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-"/>
            </a:pPr>
            <a:r>
              <a:rPr lang="es" sz="1800">
                <a:latin typeface="Proxima Nova"/>
                <a:ea typeface="Proxima Nova"/>
                <a:cs typeface="Proxima Nova"/>
                <a:sym typeface="Proxima Nova"/>
              </a:rPr>
              <a:t>Detalle: </a:t>
            </a:r>
            <a:r>
              <a:rPr lang="es" sz="1800">
                <a:latin typeface="Proxima Nova"/>
                <a:ea typeface="Proxima Nova"/>
                <a:cs typeface="Proxima Nova"/>
                <a:sym typeface="Proxima Nova"/>
              </a:rPr>
              <a:t>Se terminó el desarrollo del proyecto.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0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Baja de un integrante</a:t>
            </a:r>
            <a:endParaRPr b="1" sz="20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800"/>
              <a:buFont typeface="Proxima Nova"/>
              <a:buChar char="-"/>
            </a:pPr>
            <a:r>
              <a:rPr lang="es" sz="18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Estado: </a:t>
            </a:r>
            <a:r>
              <a:rPr b="1" lang="es" sz="18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rPr>
              <a:t>cerrado</a:t>
            </a:r>
            <a:endParaRPr sz="1800">
              <a:solidFill>
                <a:srgbClr val="E69138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-"/>
            </a:pPr>
            <a:r>
              <a:rPr lang="es" sz="1800">
                <a:latin typeface="Proxima Nova"/>
                <a:ea typeface="Proxima Nova"/>
                <a:cs typeface="Proxima Nova"/>
                <a:sym typeface="Proxima Nova"/>
              </a:rPr>
              <a:t>Detalle: Se terminó el desarrollo del proyecto.</a:t>
            </a:r>
            <a:endParaRPr sz="18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31" name="Google Shape;131;p23"/>
          <p:cNvSpPr txBox="1"/>
          <p:nvPr/>
        </p:nvSpPr>
        <p:spPr>
          <a:xfrm>
            <a:off x="311700" y="2254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02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6 - Evolución de Riesgos</a:t>
            </a:r>
            <a:endParaRPr b="1" sz="302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4"/>
          <p:cNvSpPr txBox="1"/>
          <p:nvPr/>
        </p:nvSpPr>
        <p:spPr>
          <a:xfrm>
            <a:off x="311700" y="1183446"/>
            <a:ext cx="8382000" cy="299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2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Cambios en los riesgos principales frente a las acciones de mitigación y al avance del proyecto</a:t>
            </a:r>
            <a:endParaRPr sz="22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s" sz="20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Dependencia de terceros (APIs, cuotas y costos)</a:t>
            </a:r>
            <a:endParaRPr b="1" sz="20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800"/>
              <a:buFont typeface="Proxima Nova"/>
              <a:buChar char="-"/>
            </a:pPr>
            <a:r>
              <a:rPr lang="es" sz="18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Estado: </a:t>
            </a:r>
            <a:r>
              <a:rPr b="1" lang="es" sz="18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rPr>
              <a:t>cerrado</a:t>
            </a:r>
            <a:endParaRPr sz="1800">
              <a:solidFill>
                <a:srgbClr val="F1C232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-"/>
            </a:pPr>
            <a:r>
              <a:rPr lang="es" sz="1800">
                <a:latin typeface="Proxima Nova"/>
                <a:ea typeface="Proxima Nova"/>
                <a:cs typeface="Proxima Nova"/>
                <a:sym typeface="Proxima Nova"/>
              </a:rPr>
              <a:t>Detalle: </a:t>
            </a:r>
            <a:r>
              <a:rPr lang="es" sz="1800">
                <a:latin typeface="Proxima Nova"/>
                <a:ea typeface="Proxima Nova"/>
                <a:cs typeface="Proxima Nova"/>
                <a:sym typeface="Proxima Nova"/>
              </a:rPr>
              <a:t>Se terminó el desarrollo del proyecto.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0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Caída de sistemas de terceros</a:t>
            </a:r>
            <a:endParaRPr b="1" sz="20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800"/>
              <a:buFont typeface="Proxima Nova"/>
              <a:buChar char="-"/>
            </a:pPr>
            <a:r>
              <a:rPr lang="es" sz="180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Estado: </a:t>
            </a:r>
            <a:r>
              <a:rPr b="1" lang="es" sz="18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rPr>
              <a:t>cerrado</a:t>
            </a:r>
            <a:endParaRPr sz="18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Proxima Nova"/>
              <a:buChar char="-"/>
            </a:pPr>
            <a:r>
              <a:rPr lang="es" sz="1800">
                <a:latin typeface="Proxima Nova"/>
                <a:ea typeface="Proxima Nova"/>
                <a:cs typeface="Proxima Nova"/>
                <a:sym typeface="Proxima Nova"/>
              </a:rPr>
              <a:t>Detalle: </a:t>
            </a:r>
            <a:r>
              <a:rPr lang="es" sz="1800">
                <a:latin typeface="Proxima Nova"/>
                <a:ea typeface="Proxima Nova"/>
                <a:cs typeface="Proxima Nova"/>
                <a:sym typeface="Proxima Nova"/>
              </a:rPr>
              <a:t>Se terminó el desarrollo del proyecto.</a:t>
            </a:r>
            <a:endParaRPr sz="240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37" name="Google Shape;137;p24"/>
          <p:cNvSpPr txBox="1"/>
          <p:nvPr/>
        </p:nvSpPr>
        <p:spPr>
          <a:xfrm>
            <a:off x="311700" y="434571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020">
                <a:solidFill>
                  <a:srgbClr val="202729"/>
                </a:solidFill>
                <a:latin typeface="Proxima Nova"/>
                <a:ea typeface="Proxima Nova"/>
                <a:cs typeface="Proxima Nova"/>
                <a:sym typeface="Proxima Nova"/>
              </a:rPr>
              <a:t>Sprint 6 - Evolución de Riesgos</a:t>
            </a:r>
            <a:endParaRPr b="1" sz="3020">
              <a:solidFill>
                <a:srgbClr val="202729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5"/>
          <p:cNvSpPr txBox="1"/>
          <p:nvPr/>
        </p:nvSpPr>
        <p:spPr>
          <a:xfrm>
            <a:off x="311700" y="1193900"/>
            <a:ext cx="83820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s" sz="24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Aspectos Positivos</a:t>
            </a:r>
            <a:endParaRPr b="1" i="1" sz="24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roxima Nova"/>
              <a:buChar char="-"/>
            </a:pPr>
            <a:r>
              <a:rPr lang="es" sz="24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Se pudieron completar tanto las historias planificadas. Como la nueva funcionalidad pedida por el usuario.</a:t>
            </a:r>
            <a:endParaRPr sz="24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s" sz="24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Aspectos a Mejorar</a:t>
            </a:r>
            <a:endParaRPr b="1" i="1" sz="24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roxima Nova"/>
              <a:buChar char="+"/>
            </a:pPr>
            <a:r>
              <a:rPr lang="es" sz="24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Distribución de las tareas.</a:t>
            </a:r>
            <a:endParaRPr sz="24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Sprint 6 - Retro</a:t>
            </a:r>
            <a:endParaRPr b="1" sz="302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 txBox="1"/>
          <p:nvPr/>
        </p:nvSpPr>
        <p:spPr>
          <a:xfrm>
            <a:off x="190500" y="1438275"/>
            <a:ext cx="8248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s" sz="3020"/>
              <a:t>Avance</a:t>
            </a:r>
            <a:endParaRPr b="1" sz="3020"/>
          </a:p>
        </p:txBody>
      </p:sp>
      <p:pic>
        <p:nvPicPr>
          <p:cNvPr id="150" name="Google Shape;150;p26" title="Gráfico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3025" y="1148292"/>
            <a:ext cx="5449574" cy="339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420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DEMO</a:t>
            </a:r>
            <a:endParaRPr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