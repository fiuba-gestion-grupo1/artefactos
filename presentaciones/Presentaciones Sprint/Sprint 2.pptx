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Proxima Nova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ProximaNova-regular.fntdata"/><Relationship Id="rId21" Type="http://schemas.openxmlformats.org/officeDocument/2006/relationships/slide" Target="slides/slide16.xml"/><Relationship Id="rId24" Type="http://schemas.openxmlformats.org/officeDocument/2006/relationships/font" Target="fonts/ProximaNova-italic.fntdata"/><Relationship Id="rId23" Type="http://schemas.openxmlformats.org/officeDocument/2006/relationships/font" Target="fonts/ProximaNova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ProximaNova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4febbd9f39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4febbd9f39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Duracion: 10 min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4febbd9f39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14febbd9f39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02d4881a4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02d4881a4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4febbd9f39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4febbd9f39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656d2e009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656d2e009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656d2e009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656d2e009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Corresponde a la solapa </a:t>
            </a:r>
            <a:r>
              <a:rPr b="1" lang="es" sz="12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Sprint N</a:t>
            </a:r>
            <a:r>
              <a:rPr b="1" lang="es" sz="900">
                <a:solidFill>
                  <a:schemeClr val="dk1"/>
                </a:solidFill>
              </a:rPr>
              <a:t> </a:t>
            </a:r>
            <a:r>
              <a:rPr lang="es">
                <a:solidFill>
                  <a:schemeClr val="dk1"/>
                </a:solidFill>
              </a:rPr>
              <a:t>de la planilla de artefactos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9b8ecd25c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9b8ecd25c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Corresponde a la solapa </a:t>
            </a:r>
            <a:r>
              <a:rPr b="1" lang="es" sz="12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Sprint N</a:t>
            </a:r>
            <a:r>
              <a:rPr b="1" lang="es" sz="900">
                <a:solidFill>
                  <a:schemeClr val="dk1"/>
                </a:solidFill>
              </a:rPr>
              <a:t> </a:t>
            </a:r>
            <a:r>
              <a:rPr lang="es">
                <a:solidFill>
                  <a:schemeClr val="dk1"/>
                </a:solidFill>
              </a:rPr>
              <a:t>de la planilla de artefactos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b8ecd25c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9b8ecd25c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Corresponde a la solapa </a:t>
            </a:r>
            <a:r>
              <a:rPr b="1" lang="es" sz="12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Sprint N</a:t>
            </a:r>
            <a:r>
              <a:rPr b="1" lang="es" sz="900">
                <a:solidFill>
                  <a:schemeClr val="dk1"/>
                </a:solidFill>
              </a:rPr>
              <a:t> </a:t>
            </a:r>
            <a:r>
              <a:rPr lang="es">
                <a:solidFill>
                  <a:schemeClr val="dk1"/>
                </a:solidFill>
              </a:rPr>
              <a:t>de la planilla de artefactos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1f3beb2b3c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1f3beb2b3c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9bbcf6528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9bbcf6528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Corresponde a la solapa </a:t>
            </a:r>
            <a:r>
              <a:rPr b="1" lang="es" sz="12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Sprint N</a:t>
            </a:r>
            <a:r>
              <a:rPr b="1" lang="es" sz="900">
                <a:solidFill>
                  <a:schemeClr val="dk1"/>
                </a:solidFill>
              </a:rPr>
              <a:t> </a:t>
            </a:r>
            <a:r>
              <a:rPr lang="es">
                <a:solidFill>
                  <a:schemeClr val="dk1"/>
                </a:solidFill>
              </a:rPr>
              <a:t>de la planilla de artefactos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c181aeb76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c181aeb76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Corresponde a la solapa </a:t>
            </a:r>
            <a:r>
              <a:rPr b="1" lang="es" sz="12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Sprint N</a:t>
            </a:r>
            <a:r>
              <a:rPr b="1" lang="es" sz="900">
                <a:solidFill>
                  <a:schemeClr val="dk1"/>
                </a:solidFill>
              </a:rPr>
              <a:t> </a:t>
            </a:r>
            <a:r>
              <a:rPr lang="es">
                <a:solidFill>
                  <a:schemeClr val="dk1"/>
                </a:solidFill>
              </a:rPr>
              <a:t>de la planilla de artefactos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a187941de6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a187941de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Corresponde a la solapa </a:t>
            </a:r>
            <a:r>
              <a:rPr b="1" lang="es"/>
              <a:t>avance</a:t>
            </a:r>
            <a:r>
              <a:rPr lang="es"/>
              <a:t> de la planilla de artefactos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8d66e5b018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8d66e5b018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4febbd9f39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14febbd9f39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4febbd9f39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14febbd9f39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GRUPO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CIERRE SPRINT 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User Stories Planificadas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15154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Historias de usuario</a:t>
            </a:r>
            <a:endParaRPr b="1"/>
          </a:p>
        </p:txBody>
      </p:sp>
      <p:sp>
        <p:nvSpPr>
          <p:cNvPr id="70" name="Google Shape;70;p15"/>
          <p:cNvSpPr txBox="1"/>
          <p:nvPr/>
        </p:nvSpPr>
        <p:spPr>
          <a:xfrm>
            <a:off x="311700" y="4009125"/>
            <a:ext cx="3448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Velocity Total:</a:t>
            </a:r>
            <a:endParaRPr sz="3000">
              <a:solidFill>
                <a:srgbClr val="61616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3676950" y="4070775"/>
            <a:ext cx="1280100" cy="6771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200">
                <a:latin typeface="Proxima Nova"/>
                <a:ea typeface="Proxima Nova"/>
                <a:cs typeface="Proxima Nova"/>
                <a:sym typeface="Proxima Nova"/>
              </a:rPr>
              <a:t>44 </a:t>
            </a:r>
            <a:r>
              <a:rPr b="1" lang="es" sz="3200">
                <a:latin typeface="Proxima Nova"/>
                <a:ea typeface="Proxima Nova"/>
                <a:cs typeface="Proxima Nova"/>
                <a:sym typeface="Proxima Nova"/>
              </a:rPr>
              <a:t>SP</a:t>
            </a:r>
            <a:endParaRPr b="1" sz="3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7419309" y="1579838"/>
            <a:ext cx="889500" cy="348600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txBody>
          <a:bodyPr anchorCtr="0" anchor="t" bIns="79675" lIns="79675" spcFirstLastPara="1" rIns="79675" wrap="square" tIns="796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19">
                <a:latin typeface="Proxima Nova"/>
                <a:ea typeface="Proxima Nova"/>
                <a:cs typeface="Proxima Nova"/>
                <a:sym typeface="Proxima Nova"/>
              </a:rPr>
              <a:t>Cumplido</a:t>
            </a:r>
            <a:endParaRPr b="1" sz="1219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7419309" y="1950248"/>
            <a:ext cx="889500" cy="348600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txBody>
          <a:bodyPr anchorCtr="0" anchor="t" bIns="79675" lIns="79675" spcFirstLastPara="1" rIns="79675" wrap="square" tIns="796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19">
                <a:latin typeface="Proxima Nova"/>
                <a:ea typeface="Proxima Nova"/>
                <a:cs typeface="Proxima Nova"/>
                <a:sym typeface="Proxima Nova"/>
              </a:rPr>
              <a:t>Cumplido</a:t>
            </a:r>
            <a:endParaRPr b="1" sz="1219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7419309" y="2705009"/>
            <a:ext cx="889500" cy="348600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txBody>
          <a:bodyPr anchorCtr="0" anchor="t" bIns="79675" lIns="79675" spcFirstLastPara="1" rIns="79675" wrap="square" tIns="796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19">
                <a:latin typeface="Proxima Nova"/>
                <a:ea typeface="Proxima Nova"/>
                <a:cs typeface="Proxima Nova"/>
                <a:sym typeface="Proxima Nova"/>
              </a:rPr>
              <a:t>Cumplido</a:t>
            </a:r>
            <a:endParaRPr b="1" sz="1219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7426445" y="1203373"/>
            <a:ext cx="889500" cy="348600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txBody>
          <a:bodyPr anchorCtr="0" anchor="t" bIns="79675" lIns="79675" spcFirstLastPara="1" rIns="79675" wrap="square" tIns="796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19">
                <a:latin typeface="Proxima Nova"/>
                <a:ea typeface="Proxima Nova"/>
                <a:cs typeface="Proxima Nova"/>
                <a:sym typeface="Proxima Nova"/>
              </a:rPr>
              <a:t>Cumplido</a:t>
            </a:r>
            <a:endParaRPr b="1" sz="1219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7419464" y="2327629"/>
            <a:ext cx="889500" cy="348600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txBody>
          <a:bodyPr anchorCtr="0" anchor="t" bIns="79675" lIns="79675" spcFirstLastPara="1" rIns="79675" wrap="square" tIns="796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19">
                <a:latin typeface="Proxima Nova"/>
                <a:ea typeface="Proxima Nova"/>
                <a:cs typeface="Proxima Nova"/>
                <a:sym typeface="Proxima Nova"/>
              </a:rPr>
              <a:t>Cumplido</a:t>
            </a:r>
            <a:endParaRPr b="1" sz="1219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311700" y="792400"/>
            <a:ext cx="6302400" cy="29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US 3.1 - Crear publicación</a:t>
            </a:r>
            <a:endParaRPr sz="240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US 3.2 - Eliminar publicación</a:t>
            </a:r>
            <a:endParaRPr sz="240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US 2.3 - Configurar preferencias</a:t>
            </a:r>
            <a:endParaRPr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US 2.4 - Buscador de destinos y actividades</a:t>
            </a:r>
            <a:endParaRPr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US 4.2 - Guardar en favoritos</a:t>
            </a:r>
            <a:endParaRPr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US 4.1 - Ver puntaje promedio</a:t>
            </a:r>
            <a:endParaRPr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US 5.5 - </a:t>
            </a:r>
            <a:r>
              <a:rPr lang="es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Publicar reseña (Premium)</a:t>
            </a:r>
            <a:endParaRPr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US 4.4 - Filtrar por categoría</a:t>
            </a:r>
            <a:endParaRPr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6776201" y="812548"/>
            <a:ext cx="487800" cy="348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79675" lIns="79675" spcFirstLastPara="1" rIns="79675" wrap="square" tIns="79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19">
                <a:latin typeface="Proxima Nova"/>
                <a:ea typeface="Proxima Nova"/>
                <a:cs typeface="Proxima Nova"/>
                <a:sym typeface="Proxima Nova"/>
              </a:rPr>
              <a:t>8 SP</a:t>
            </a:r>
            <a:endParaRPr b="1" sz="1219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6776201" y="1193698"/>
            <a:ext cx="487800" cy="348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79675" lIns="79675" spcFirstLastPara="1" rIns="79675" wrap="square" tIns="79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19">
                <a:latin typeface="Proxima Nova"/>
                <a:ea typeface="Proxima Nova"/>
                <a:cs typeface="Proxima Nova"/>
                <a:sym typeface="Proxima Nova"/>
              </a:rPr>
              <a:t>8 SP</a:t>
            </a:r>
            <a:endParaRPr b="1" sz="1219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6776201" y="1574847"/>
            <a:ext cx="487800" cy="348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79675" lIns="79675" spcFirstLastPara="1" rIns="79675" wrap="square" tIns="79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19">
                <a:latin typeface="Proxima Nova"/>
                <a:ea typeface="Proxima Nova"/>
                <a:cs typeface="Proxima Nova"/>
                <a:sym typeface="Proxima Nova"/>
              </a:rPr>
              <a:t>5 SP</a:t>
            </a:r>
            <a:endParaRPr b="1" sz="1219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6776201" y="1955996"/>
            <a:ext cx="487800" cy="348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79675" lIns="79675" spcFirstLastPara="1" rIns="79675" wrap="square" tIns="79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19">
                <a:latin typeface="Proxima Nova"/>
                <a:ea typeface="Proxima Nova"/>
                <a:cs typeface="Proxima Nova"/>
                <a:sym typeface="Proxima Nova"/>
              </a:rPr>
              <a:t>5 SP</a:t>
            </a:r>
            <a:endParaRPr b="1" sz="1219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6776201" y="2337146"/>
            <a:ext cx="487800" cy="348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79675" lIns="79675" spcFirstLastPara="1" rIns="79675" wrap="square" tIns="79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19">
                <a:latin typeface="Proxima Nova"/>
                <a:ea typeface="Proxima Nova"/>
                <a:cs typeface="Proxima Nova"/>
                <a:sym typeface="Proxima Nova"/>
              </a:rPr>
              <a:t>3 SP</a:t>
            </a:r>
            <a:endParaRPr b="1" sz="1219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6776201" y="2718295"/>
            <a:ext cx="487800" cy="348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79675" lIns="79675" spcFirstLastPara="1" rIns="79675" wrap="square" tIns="79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19">
                <a:latin typeface="Proxima Nova"/>
                <a:ea typeface="Proxima Nova"/>
                <a:cs typeface="Proxima Nova"/>
                <a:sym typeface="Proxima Nova"/>
              </a:rPr>
              <a:t>5</a:t>
            </a:r>
            <a:r>
              <a:rPr b="1" lang="es" sz="1219">
                <a:latin typeface="Proxima Nova"/>
                <a:ea typeface="Proxima Nova"/>
                <a:cs typeface="Proxima Nova"/>
                <a:sym typeface="Proxima Nova"/>
              </a:rPr>
              <a:t> SP</a:t>
            </a:r>
            <a:endParaRPr b="1" sz="1219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6777595" y="3103091"/>
            <a:ext cx="487800" cy="348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79675" lIns="79675" spcFirstLastPara="1" rIns="79675" wrap="square" tIns="79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19">
                <a:latin typeface="Proxima Nova"/>
                <a:ea typeface="Proxima Nova"/>
                <a:cs typeface="Proxima Nova"/>
                <a:sym typeface="Proxima Nova"/>
              </a:rPr>
              <a:t>5 SP</a:t>
            </a:r>
            <a:endParaRPr b="1" sz="1219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5" name="Google Shape;85;p15"/>
          <p:cNvSpPr txBox="1"/>
          <p:nvPr/>
        </p:nvSpPr>
        <p:spPr>
          <a:xfrm>
            <a:off x="6777595" y="3484240"/>
            <a:ext cx="487800" cy="348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79675" lIns="79675" spcFirstLastPara="1" rIns="79675" wrap="square" tIns="79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19">
                <a:latin typeface="Proxima Nova"/>
                <a:ea typeface="Proxima Nova"/>
                <a:cs typeface="Proxima Nova"/>
                <a:sym typeface="Proxima Nova"/>
              </a:rPr>
              <a:t>5 SP</a:t>
            </a:r>
            <a:endParaRPr b="1" sz="1219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6" name="Google Shape;86;p15"/>
          <p:cNvSpPr txBox="1"/>
          <p:nvPr/>
        </p:nvSpPr>
        <p:spPr>
          <a:xfrm>
            <a:off x="7426163" y="821383"/>
            <a:ext cx="889500" cy="348600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txBody>
          <a:bodyPr anchorCtr="0" anchor="t" bIns="79675" lIns="79675" spcFirstLastPara="1" rIns="79675" wrap="square" tIns="796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19">
                <a:latin typeface="Proxima Nova"/>
                <a:ea typeface="Proxima Nova"/>
                <a:cs typeface="Proxima Nova"/>
                <a:sym typeface="Proxima Nova"/>
              </a:rPr>
              <a:t>Cumplido</a:t>
            </a:r>
            <a:endParaRPr b="1" sz="1219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7" name="Google Shape;87;p15"/>
          <p:cNvSpPr txBox="1"/>
          <p:nvPr/>
        </p:nvSpPr>
        <p:spPr>
          <a:xfrm>
            <a:off x="7419026" y="3468140"/>
            <a:ext cx="889500" cy="348600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txBody>
          <a:bodyPr anchorCtr="0" anchor="t" bIns="79675" lIns="79675" spcFirstLastPara="1" rIns="79675" wrap="square" tIns="796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19">
                <a:latin typeface="Proxima Nova"/>
                <a:ea typeface="Proxima Nova"/>
                <a:cs typeface="Proxima Nova"/>
                <a:sym typeface="Proxima Nova"/>
              </a:rPr>
              <a:t>Cumplido</a:t>
            </a:r>
            <a:endParaRPr b="1" sz="1219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8" name="Google Shape;88;p15"/>
          <p:cNvSpPr txBox="1"/>
          <p:nvPr/>
        </p:nvSpPr>
        <p:spPr>
          <a:xfrm>
            <a:off x="7419181" y="3090760"/>
            <a:ext cx="889500" cy="348600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txBody>
          <a:bodyPr anchorCtr="0" anchor="t" bIns="79675" lIns="79675" spcFirstLastPara="1" rIns="79675" wrap="square" tIns="796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19">
                <a:latin typeface="Proxima Nova"/>
                <a:ea typeface="Proxima Nova"/>
                <a:cs typeface="Proxima Nova"/>
                <a:sym typeface="Proxima Nova"/>
              </a:rPr>
              <a:t>Cumplido</a:t>
            </a:r>
            <a:endParaRPr b="1" sz="1219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/>
        </p:nvSpPr>
        <p:spPr>
          <a:xfrm>
            <a:off x="1470850" y="4091800"/>
            <a:ext cx="2103900" cy="4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Velocity actual: 44 SP</a:t>
            </a:r>
            <a:endParaRPr b="1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4" name="Google Shape;9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/>
              <a:t>Métricas</a:t>
            </a:r>
            <a:endParaRPr b="1" sz="3020"/>
          </a:p>
        </p:txBody>
      </p:sp>
      <p:pic>
        <p:nvPicPr>
          <p:cNvPr id="95" name="Google Shape;95;p16" title="Gráfic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475" y="1246813"/>
            <a:ext cx="4230549" cy="2615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6" title="Gráfic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83424" y="1170125"/>
            <a:ext cx="4408176" cy="27257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/>
              <a:t>Métricas</a:t>
            </a:r>
            <a:endParaRPr b="1" sz="3020"/>
          </a:p>
        </p:txBody>
      </p:sp>
      <p:pic>
        <p:nvPicPr>
          <p:cNvPr id="102" name="Google Shape;102;p17" title="Gráfic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950" y="1413850"/>
            <a:ext cx="4405052" cy="2315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7" title="Gráfic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2402" y="1450088"/>
            <a:ext cx="4267197" cy="2243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Uso de IA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/>
          <p:nvPr/>
        </p:nvSpPr>
        <p:spPr>
          <a:xfrm>
            <a:off x="311700" y="1322100"/>
            <a:ext cx="87318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Char char="-"/>
            </a:pPr>
            <a:r>
              <a:rPr lang="es"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Herramienta</a:t>
            </a:r>
            <a:r>
              <a:rPr lang="es"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utilizada: Gemini y ChatGPT</a:t>
            </a:r>
            <a:endParaRPr sz="2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Char char="-"/>
            </a:pPr>
            <a:r>
              <a:rPr lang="es"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Versiones e iteraciones: Se le envió contexto con código ya hecho con el fin de generar código nuevo. Se utilizó </a:t>
            </a:r>
            <a:r>
              <a:rPr lang="es"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también</a:t>
            </a:r>
            <a:r>
              <a:rPr lang="es"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para resolución de errores.</a:t>
            </a:r>
            <a:endParaRPr sz="2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4" name="Google Shape;11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/>
              <a:t>Uso de IA</a:t>
            </a:r>
            <a:endParaRPr b="1" sz="302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/>
              <a:t>Uso de IA - Ejemplos</a:t>
            </a:r>
            <a:endParaRPr b="1" sz="3020"/>
          </a:p>
        </p:txBody>
      </p:sp>
      <p:pic>
        <p:nvPicPr>
          <p:cNvPr id="120" name="Google Shape;12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775" y="1109787"/>
            <a:ext cx="4934800" cy="272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77750" y="2502902"/>
            <a:ext cx="3973600" cy="25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1"/>
          <p:cNvSpPr txBox="1"/>
          <p:nvPr/>
        </p:nvSpPr>
        <p:spPr>
          <a:xfrm>
            <a:off x="311700" y="1322100"/>
            <a:ext cx="87318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roxima Nova"/>
              <a:buChar char="-"/>
            </a:pPr>
            <a:r>
              <a:rPr lang="es" sz="2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Se </a:t>
            </a:r>
            <a:r>
              <a:rPr lang="es" sz="2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utilizó</a:t>
            </a:r>
            <a:r>
              <a:rPr lang="es" sz="2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la IA mediante el pasaje del contexto en el cual estaba el tp. Utilizando la IA se pudo </a:t>
            </a:r>
            <a:r>
              <a:rPr lang="es" sz="2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desarrollar</a:t>
            </a:r>
            <a:r>
              <a:rPr lang="es" sz="2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de manera </a:t>
            </a:r>
            <a:r>
              <a:rPr lang="es" sz="2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más</a:t>
            </a:r>
            <a:r>
              <a:rPr lang="es" sz="2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precisa sabiendo en </a:t>
            </a:r>
            <a:r>
              <a:rPr lang="es" sz="2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qué</a:t>
            </a:r>
            <a:r>
              <a:rPr lang="es" sz="2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partes del </a:t>
            </a:r>
            <a:r>
              <a:rPr lang="es" sz="2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código</a:t>
            </a:r>
            <a:r>
              <a:rPr lang="es" sz="2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se </a:t>
            </a:r>
            <a:r>
              <a:rPr lang="es" sz="2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deberían</a:t>
            </a:r>
            <a:r>
              <a:rPr lang="es" sz="2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s" sz="2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realizar</a:t>
            </a:r>
            <a:r>
              <a:rPr lang="es" sz="2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modificaciones.</a:t>
            </a:r>
            <a:endParaRPr sz="21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roxima Nova"/>
              <a:buChar char="-"/>
            </a:pPr>
            <a:r>
              <a:rPr lang="es" sz="2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Además, la inteligencia artificial aportó buenas prácticas que </a:t>
            </a:r>
            <a:r>
              <a:rPr lang="es" sz="2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favorecen</a:t>
            </a:r>
            <a:r>
              <a:rPr lang="es" sz="2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la coherencia y consistencia de la base de datos, como el uso de relaciones adecuadas entre tablas. También contribuyó al diseño de APIs RESTful específicas y seguras, con endpoints claramente separados según la acción correspondiente. En el frontend, promovió un manejo de estado limpio en React, con una separación clara entre las vistas y la lógica de negocio. </a:t>
            </a:r>
            <a:endParaRPr sz="21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7" name="Google Shape;12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/>
              <a:t>Uso de IA - Justificación de Resultado Final</a:t>
            </a:r>
            <a:endParaRPr b="1" sz="302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Retro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/>
        </p:nvSpPr>
        <p:spPr>
          <a:xfrm>
            <a:off x="311700" y="1193900"/>
            <a:ext cx="8382000" cy="3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1. </a:t>
            </a:r>
            <a:r>
              <a:rPr lang="es" sz="2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Si bien se alcanzó a realizar una investigación completa sobre la herramienta de IA ‘Gemini’ para su integración.</a:t>
            </a:r>
            <a:endParaRPr sz="2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2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El tiempo que nos llevó generó retrasos en el desarrolló, por lo que se decidió ajustar el cronograma y posponer al siguiente sprint el feature relacionado. </a:t>
            </a:r>
            <a:endParaRPr sz="2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2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Esta reprogramación buscó reducir riesgos asociados a la falta de experiencia y asegurar una integración más sólida y planificada.</a:t>
            </a:r>
            <a:endParaRPr sz="2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s" sz="2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2. </a:t>
            </a:r>
            <a:r>
              <a:rPr lang="es" sz="2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Hubo un problema en la comunicación y quedaron cambios sin mergear en una rama; generando un conflicto en el desarrollo.</a:t>
            </a:r>
            <a:endParaRPr sz="2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8" name="Google Shape;13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/>
              <a:t>Sprint 2 - Evolución de Riesgos</a:t>
            </a:r>
            <a:endParaRPr b="1" sz="302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4"/>
          <p:cNvSpPr txBox="1"/>
          <p:nvPr/>
        </p:nvSpPr>
        <p:spPr>
          <a:xfrm>
            <a:off x="311700" y="1193900"/>
            <a:ext cx="83820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roxima Nova"/>
              <a:buChar char="-"/>
            </a:pPr>
            <a:r>
              <a:rPr lang="es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Luego de modificar el cronograma, se lograron cumplir todas las tareas planificadas.</a:t>
            </a:r>
            <a:endParaRPr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roxima Nova"/>
              <a:buChar char="-"/>
            </a:pPr>
            <a:r>
              <a:rPr lang="es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Incorporamos un nuevo artefacto de “</a:t>
            </a:r>
            <a:r>
              <a:rPr lang="es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gestión</a:t>
            </a:r>
            <a:r>
              <a:rPr lang="es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de cambios”, para un mejor seguimiento de posibles actualizaciones o cambios repentinos durante el desarrollo.</a:t>
            </a:r>
            <a:endParaRPr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roxima Nova"/>
              <a:buChar char="-"/>
            </a:pPr>
            <a:r>
              <a:rPr lang="es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Se tuvo una reunión grupal donde se buscó formas de mejorar la metodología de trabajo, para asegurar que no se vuelva a caer en inconsistencias durante el desarrollo.</a:t>
            </a:r>
            <a:endParaRPr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4" name="Google Shape;14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/>
              <a:t>Sprint 2</a:t>
            </a:r>
            <a:endParaRPr b="1" sz="302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/>
          <p:nvPr/>
        </p:nvSpPr>
        <p:spPr>
          <a:xfrm>
            <a:off x="190500" y="1438275"/>
            <a:ext cx="8248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0" name="Google Shape;15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/>
              <a:t>Avance</a:t>
            </a:r>
            <a:endParaRPr b="1" sz="3020"/>
          </a:p>
        </p:txBody>
      </p:sp>
      <p:pic>
        <p:nvPicPr>
          <p:cNvPr id="151" name="Google Shape;151;p25" title="Gráfic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3025" y="1339975"/>
            <a:ext cx="5449574" cy="339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 txBox="1"/>
          <p:nvPr>
            <p:ph type="title"/>
          </p:nvPr>
        </p:nvSpPr>
        <p:spPr>
          <a:xfrm>
            <a:off x="311700" y="142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DEMO</a:t>
            </a:r>
            <a:endParaRPr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7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Compromisos para Sprint 3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/>
          <p:cNvSpPr txBox="1"/>
          <p:nvPr/>
        </p:nvSpPr>
        <p:spPr>
          <a:xfrm>
            <a:off x="311700" y="966000"/>
            <a:ext cx="7279800" cy="40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US 4.5 - Acceso rápido a favoritos</a:t>
            </a:r>
            <a:endParaRPr sz="280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US 4.4 - Filtro por</a:t>
            </a:r>
            <a:r>
              <a:rPr lang="es" sz="28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 amenities</a:t>
            </a:r>
            <a:endParaRPr sz="280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US 5.4 - Ordenar sugerencias por puntaje</a:t>
            </a:r>
            <a:endParaRPr sz="280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US 4.3 - Armar Itinerario (IA)</a:t>
            </a:r>
            <a:endParaRPr sz="280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US 5.7 - Ver reseñas en la ficha</a:t>
            </a:r>
            <a:endParaRPr sz="280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US 4.7 - Marcar publicaciones favoritas como pendientes o realizados</a:t>
            </a:r>
            <a:endParaRPr sz="280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7" name="Google Shape;167;p28"/>
          <p:cNvSpPr txBox="1"/>
          <p:nvPr/>
        </p:nvSpPr>
        <p:spPr>
          <a:xfrm>
            <a:off x="7591625" y="1113950"/>
            <a:ext cx="711300" cy="4380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100075" lIns="100075" spcFirstLastPara="1" rIns="100075" wrap="square" tIns="1000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32">
                <a:latin typeface="Proxima Nova"/>
                <a:ea typeface="Proxima Nova"/>
                <a:cs typeface="Proxima Nova"/>
                <a:sym typeface="Proxima Nova"/>
              </a:rPr>
              <a:t>3</a:t>
            </a:r>
            <a:r>
              <a:rPr b="1" lang="es" sz="1532">
                <a:latin typeface="Proxima Nova"/>
                <a:ea typeface="Proxima Nova"/>
                <a:cs typeface="Proxima Nova"/>
                <a:sym typeface="Proxima Nova"/>
              </a:rPr>
              <a:t> SP</a:t>
            </a:r>
            <a:endParaRPr b="1" sz="1532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8" name="Google Shape;168;p28"/>
          <p:cNvSpPr txBox="1"/>
          <p:nvPr/>
        </p:nvSpPr>
        <p:spPr>
          <a:xfrm>
            <a:off x="7591625" y="1592790"/>
            <a:ext cx="711300" cy="4380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100075" lIns="100075" spcFirstLastPara="1" rIns="100075" wrap="square" tIns="1000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32">
                <a:latin typeface="Proxima Nova"/>
                <a:ea typeface="Proxima Nova"/>
                <a:cs typeface="Proxima Nova"/>
                <a:sym typeface="Proxima Nova"/>
              </a:rPr>
              <a:t>8 </a:t>
            </a:r>
            <a:r>
              <a:rPr b="1" lang="es" sz="1532">
                <a:latin typeface="Proxima Nova"/>
                <a:ea typeface="Proxima Nova"/>
                <a:cs typeface="Proxima Nova"/>
                <a:sym typeface="Proxima Nova"/>
              </a:rPr>
              <a:t>SP</a:t>
            </a:r>
            <a:endParaRPr b="1" sz="1532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9" name="Google Shape;169;p28"/>
          <p:cNvSpPr txBox="1"/>
          <p:nvPr/>
        </p:nvSpPr>
        <p:spPr>
          <a:xfrm>
            <a:off x="7591625" y="2071630"/>
            <a:ext cx="711300" cy="4380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100075" lIns="100075" spcFirstLastPara="1" rIns="100075" wrap="square" tIns="1000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32">
                <a:latin typeface="Proxima Nova"/>
                <a:ea typeface="Proxima Nova"/>
                <a:cs typeface="Proxima Nova"/>
                <a:sym typeface="Proxima Nova"/>
              </a:rPr>
              <a:t>5</a:t>
            </a:r>
            <a:r>
              <a:rPr b="1" lang="es" sz="1532">
                <a:latin typeface="Proxima Nova"/>
                <a:ea typeface="Proxima Nova"/>
                <a:cs typeface="Proxima Nova"/>
                <a:sym typeface="Proxima Nova"/>
              </a:rPr>
              <a:t> SP</a:t>
            </a:r>
            <a:endParaRPr b="1" sz="1532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0" name="Google Shape;170;p28"/>
          <p:cNvSpPr txBox="1"/>
          <p:nvPr/>
        </p:nvSpPr>
        <p:spPr>
          <a:xfrm>
            <a:off x="7591625" y="2550470"/>
            <a:ext cx="711300" cy="4380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100075" lIns="100075" spcFirstLastPara="1" rIns="100075" wrap="square" tIns="1000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32">
                <a:latin typeface="Proxima Nova"/>
                <a:ea typeface="Proxima Nova"/>
                <a:cs typeface="Proxima Nova"/>
                <a:sym typeface="Proxima Nova"/>
              </a:rPr>
              <a:t>13</a:t>
            </a:r>
            <a:r>
              <a:rPr b="1" lang="es" sz="1532">
                <a:latin typeface="Proxima Nova"/>
                <a:ea typeface="Proxima Nova"/>
                <a:cs typeface="Proxima Nova"/>
                <a:sym typeface="Proxima Nova"/>
              </a:rPr>
              <a:t> SP</a:t>
            </a:r>
            <a:endParaRPr b="1" sz="1532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1" name="Google Shape;171;p28"/>
          <p:cNvSpPr txBox="1"/>
          <p:nvPr/>
        </p:nvSpPr>
        <p:spPr>
          <a:xfrm>
            <a:off x="311700" y="1420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Historias de usuario</a:t>
            </a:r>
            <a:endParaRPr b="1" sz="280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2" name="Google Shape;172;p28"/>
          <p:cNvSpPr txBox="1"/>
          <p:nvPr/>
        </p:nvSpPr>
        <p:spPr>
          <a:xfrm>
            <a:off x="7591625" y="3029309"/>
            <a:ext cx="711300" cy="4380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100075" lIns="100075" spcFirstLastPara="1" rIns="100075" wrap="square" tIns="1000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32">
                <a:latin typeface="Proxima Nova"/>
                <a:ea typeface="Proxima Nova"/>
                <a:cs typeface="Proxima Nova"/>
                <a:sym typeface="Proxima Nova"/>
              </a:rPr>
              <a:t>8</a:t>
            </a:r>
            <a:r>
              <a:rPr b="1" lang="es" sz="1532">
                <a:latin typeface="Proxima Nova"/>
                <a:ea typeface="Proxima Nova"/>
                <a:cs typeface="Proxima Nova"/>
                <a:sym typeface="Proxima Nova"/>
              </a:rPr>
              <a:t> SP</a:t>
            </a:r>
            <a:endParaRPr b="1" sz="1532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3" name="Google Shape;173;p28"/>
          <p:cNvSpPr txBox="1"/>
          <p:nvPr/>
        </p:nvSpPr>
        <p:spPr>
          <a:xfrm>
            <a:off x="7591625" y="3508149"/>
            <a:ext cx="711300" cy="4380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100075" lIns="100075" spcFirstLastPara="1" rIns="100075" wrap="square" tIns="1000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32">
                <a:latin typeface="Proxima Nova"/>
                <a:ea typeface="Proxima Nova"/>
                <a:cs typeface="Proxima Nova"/>
                <a:sym typeface="Proxima Nova"/>
              </a:rPr>
              <a:t>8</a:t>
            </a:r>
            <a:r>
              <a:rPr b="1" lang="es" sz="1532">
                <a:latin typeface="Proxima Nova"/>
                <a:ea typeface="Proxima Nova"/>
                <a:cs typeface="Proxima Nova"/>
                <a:sym typeface="Proxima Nova"/>
              </a:rPr>
              <a:t> SP</a:t>
            </a:r>
            <a:endParaRPr b="1" sz="1532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